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b49a23-e8c7-d586-d94e-8bfde701e4fe}">
          <p14:sldIdLst>
            <p14:sldId id="256"/>
            <p14:sldId id="257"/>
          </p14:sldIdLst>
        </p14:section>
        <p14:section name="How it works" id="{d187365a-e92f-4f78-65c7-21961f4b55a8}">
          <p14:sldIdLst>
            <p14:sldId id="258"/>
            <p14:sldId id="259"/>
            <p14:sldId id="260"/>
            <p14:sldId id="261"/>
            <p14:sldId id="262"/>
            <p14:sldId id="263"/>
          </p14:sldIdLst>
        </p14:section>
        <p14:section name="Evidence" id="{2ea4468e-3fa8-235e-053e-d8947dcc82c7}">
          <p14:sldIdLst>
            <p14:sldId id="264"/>
            <p14:sldId id="265"/>
            <p14:sldId id="266"/>
            <p14:sldId id="267"/>
          </p14:sldIdLst>
        </p14:section>
        <p14:section name="Close" id="{5a913d4c-c445-8d15-9fac-fa1b497a7012}">
          <p14:sldIdLst>
            <p14:sldId id="268"/>
            <p14:sldId id="269"/>
          </p14:sldIdLst>
        </p14:section>
        <p14:section name="Backup" id="{e934b7f4-8aa2-a11e-4848-f16f72b4ae2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3A4BD"/>
                </a:solidFill>
                <a:latin typeface="+mn-lt"/>
              </a:defRPr>
            </a:pPr>
            <a:r>
              <a:rPr sz="1200" b="0" i="0" u="none" strike="noStrike">
                <a:solidFill>
                  <a:srgbClr val="93A4BD"/>
                </a:solidFill>
                <a:latin typeface="+mn-lt"/>
              </a:rPr>
              <a:t>Accuracy (%)</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4A5D7E"/>
            </a:solidFill>
            <a:effectLst/>
          </c:spPr>
          <c:invertIfNegative val="0"/>
          <c:dLbls>
            <c:numFmt formatCode="0.0&quot;%&quot;" sourceLinked="0"/>
            <c:txPr>
              <a:bodyPr/>
              <a:lstStyle/>
              <a:p>
                <a:pPr>
                  <a:defRPr b="1" i="0" strike="noStrike" sz="1400" u="none">
                    <a:solidFill>
                      <a:srgbClr val="E8EEF6"/>
                    </a:solidFill>
                    <a:latin typeface="+mn-lt"/>
                  </a:defRPr>
                </a:pPr>
              </a:p>
            </c:txPr>
            <c:showLegendKey val="0"/>
            <c:showVal val="1"/>
            <c:showCatName val="0"/>
            <c:showSerName val="0"/>
            <c:showPercent val="0"/>
            <c:showBubbleSize val="0"/>
            <c:showLeaderLines val="0"/>
          </c:dLbls>
          <c:dPt>
            <c:idx val="0"/>
            <c:invertIfNegative val="0"/>
            <c:bubble3D val="0"/>
            <c:spPr>
              <a:solidFill>
                <a:srgbClr val="4A5D7E"/>
              </a:solidFill>
              <a:effectLst/>
            </c:spPr>
          </c:dPt>
          <c:dPt>
            <c:idx val="1"/>
            <c:invertIfNegative val="0"/>
            <c:bubble3D val="0"/>
            <c:spPr>
              <a:solidFill>
                <a:srgbClr val="14B8A6"/>
              </a:solidFill>
              <a:effectLst/>
            </c:spPr>
          </c:dPt>
          <c:dPt>
            <c:idx val="2"/>
            <c:invertIfNegative val="0"/>
            <c:bubble3D val="0"/>
            <c:spPr>
              <a:solidFill>
                <a:srgbClr val="5EEAD4"/>
              </a:solidFill>
              <a:effectLst/>
            </c:spPr>
          </c:dPt>
          <c:cat>
            <c:multiLvlStrRef>
              <c:f>Sheet1!$A$2:$A$4</c:f>
              <c:multiLvlStrCache>
                <c:ptCount val="3"/>
                <c:lvl>
                  <c:pt idx="0">
                    <c:v>Dev: verdict</c:v>
                  </c:pt>
                  <c:pt idx="1">
                    <c:v>Fresh: verdict</c:v>
                  </c:pt>
                  <c:pt idx="2">
                    <c:v>Fresh: exact categories</c:v>
                  </c:pt>
                </c:lvl>
              </c:multiLvlStrCache>
            </c:multiLvlStrRef>
          </c:cat>
          <c:val>
            <c:numRef>
              <c:f>Sheet1!$B$2:$B$4</c:f>
              <c:numCache>
                <c:formatCode>General</c:formatCode>
                <c:ptCount val="3"/>
                <c:pt idx="0">
                  <c:v>100</c:v>
                </c:pt>
                <c:pt idx="1">
                  <c:v>95.2</c:v>
                </c:pt>
                <c:pt idx="2">
                  <c:v>80</c:v>
                </c:pt>
              </c:numCache>
            </c:numRef>
          </c:val>
        </c:ser>
        <c:dLbls>
          <c:numFmt formatCode="0.0&quot;%&quot;" sourceLinked="0"/>
          <c:txPr>
            <a:bodyPr/>
            <a:lstStyle/>
            <a:p>
              <a:pPr>
                <a:defRPr b="1" i="0" strike="noStrike" sz="1400" u="none">
                  <a:solidFill>
                    <a:srgbClr val="E8EEF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93A4BD"/>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solidFill>
          <a:srgbClr val="0B1426"/>
        </a:solidFill>
        <a:ln>
          <a:noFill/>
        </a:ln>
        <a:effectLst/>
      </c:spPr>
    </c:plotArea>
    <c:plotVisOnly val="1"/>
    <c:dispBlanksAs val="span"/>
  </c:chart>
  <c:spPr>
    <a:solidFill>
      <a:srgbClr val="0B142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3A4BD"/>
                </a:solidFill>
                <a:latin typeface="+mn-lt"/>
              </a:defRPr>
            </a:pPr>
            <a:r>
              <a:rPr sz="1200" b="0" i="0" u="none" strike="noStrike">
                <a:solidFill>
                  <a:srgbClr val="93A4BD"/>
                </a:solidFill>
                <a:latin typeface="+mn-lt"/>
              </a:rPr>
              <a:t>False positives on real modules</a:t>
            </a:r>
          </a:p>
        </c:rich>
      </c:tx>
      <c:layout/>
      <c:overlay val="0"/>
    </c:title>
    <c:autoTitleDeleted val="0"/>
    <c:plotArea>
      <c:layout/>
      <c:barChart>
        <c:barDir val="bar"/>
        <c:grouping val="clustered"/>
        <c:varyColors val="0"/>
        <c:ser>
          <c:idx val="0"/>
          <c:order val="0"/>
          <c:tx>
            <c:strRef>
              <c:f>Sheet1!$B$1</c:f>
              <c:strCache>
                <c:ptCount val="1"/>
                <c:pt idx="0">
                  <c:v>False positives</c:v>
                </c:pt>
              </c:strCache>
            </c:strRef>
          </c:tx>
          <c:spPr>
            <a:solidFill>
              <a:srgbClr val="F5B547"/>
            </a:solidFill>
            <a:effectLst/>
          </c:spPr>
          <c:invertIfNegative val="0"/>
          <c:dLbls>
            <c:numFmt formatCode="0.0&quot;%&quot;" sourceLinked="0"/>
            <c:txPr>
              <a:bodyPr/>
              <a:lstStyle/>
              <a:p>
                <a:pPr>
                  <a:defRPr b="1" i="0" strike="noStrike" sz="1300" u="none">
                    <a:solidFill>
                      <a:srgbClr val="E8EEF6"/>
                    </a:solidFill>
                    <a:latin typeface="+mn-lt"/>
                  </a:defRPr>
                </a:pPr>
              </a:p>
            </c:txPr>
            <c:showLegendKey val="0"/>
            <c:showVal val="1"/>
            <c:showCatName val="0"/>
            <c:showSerName val="0"/>
            <c:showPercent val="0"/>
            <c:showBubbleSize val="0"/>
            <c:showLeaderLines val="0"/>
          </c:dLbls>
          <c:cat>
            <c:multiLvlStrRef>
              <c:f>Sheet1!$A$2:$A$3</c:f>
              <c:multiLvlStrCache>
                <c:ptCount val="2"/>
                <c:lvl>
                  <c:pt idx="0">
                    <c:v>Third-party (250)</c:v>
                  </c:pt>
                  <c:pt idx="1">
                    <c:v>Std library (400)</c:v>
                  </c:pt>
                </c:lvl>
              </c:multiLvlStrCache>
            </c:multiLvlStrRef>
          </c:cat>
          <c:val>
            <c:numRef>
              <c:f>Sheet1!$B$2:$B$3</c:f>
              <c:numCache>
                <c:formatCode>General</c:formatCode>
                <c:ptCount val="2"/>
                <c:pt idx="0">
                  <c:v>7.2</c:v>
                </c:pt>
                <c:pt idx="1">
                  <c:v>8.2</c:v>
                </c:pt>
              </c:numCache>
            </c:numRef>
          </c:val>
        </c:ser>
        <c:dLbls>
          <c:numFmt formatCode="0.0&quot;%&quot;" sourceLinked="0"/>
          <c:txPr>
            <a:bodyPr/>
            <a:lstStyle/>
            <a:p>
              <a:pPr>
                <a:defRPr b="1" i="0" strike="noStrike" sz="1300" u="none">
                  <a:solidFill>
                    <a:srgbClr val="E8EEF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93A4BD"/>
                </a:solidFill>
                <a:latin typeface="+mn-lt"/>
              </a:defRPr>
            </a:pPr>
            <a:endParaRPr lang="en-US"/>
          </a:p>
        </c:txPr>
        <c:crossAx val="2094734552"/>
        <c:crosses val="autoZero"/>
        <c:auto val="1"/>
        <c:lblAlgn val="ctr"/>
        <c:noMultiLvlLbl val="1"/>
      </c:catAx>
      <c:valAx>
        <c:axId val="2094734552"/>
        <c:scaling>
          <c:orientation val="minMax"/>
          <c:max val="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solidFill>
          <a:srgbClr val="0B1426"/>
        </a:solidFill>
        <a:ln>
          <a:noFill/>
        </a:ln>
        <a:effectLst/>
      </c:spPr>
    </c:plotArea>
    <c:plotVisOnly val="1"/>
    <c:dispBlanksAs val="span"/>
  </c:chart>
  <c:spPr>
    <a:solidFill>
      <a:srgbClr val="0B142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CodeGuard, a safety layer that checks AI-generated code before it runs. It gives an allow or block decision in a few milliseconds on a laptop CPU, with no LLM and no external API. Every verdict comes with a plain-English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now run the code they write, often with no human in the loop. One bad snippet can leak secrets, delete data, open a backdoor, or plant instructions that hijack a reviewer model. So we need a decision that is cheap enough to run on every snippet, before it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send one JSON object with the code. You get back a verdict, a risk score from 0 to 1, the risk categories, the detected language, a plain-English reason and the exact vulnerable lines. It runs as an API with scan, batch and health endpoints, a browser UI, a CLI, or a direct library call. These are the nine categories we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pipeline, left to right. We clean the input and identify the language, then a front-end turns the code into behaviour events: a full abstract interpreter for Python and JavaScript, dedicated analysers for bash, SQL, YAML and Markdown, and a generic one for the rest. 187 declarative YAML rules match those events, and a noisy-OR fusion produces the verdict, the reason and the lines. At no point is the code under test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keyword list. Every value carries labels such as user input, secret or decoded, and rules ask where those values flow. We resolve string building, base64, hex and zlib decoding, aliases and helper functions, and we prove injection with a concrete witness. On the right, the two functions have the same names and the same calls, but only the one where input flows into the query text is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category maps to concrete signals, not a vague score. For example, secret access checks credential files, about 220 provider key formats and high-entropy strings, and dependency risk checks for typosquats against the 15,000 most-downloaded PyPI packages. The last row covers instructions hidden in comments that target a reviewer or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the learned parts small. A 1.2 MB byte-level language model judges how natural code looks and only gates the obfuscation signal. A 0.5 MB text classifier, trained on a public prompt-injection benchmark plus about 16,000 benign comments, catches 74% of attack families it never saw with about zero false positives. A MiniLM classifier and a hashed code classifier, trained on 500 rows plus about 6,700 real benign functions, caught only 20 to 33% of independent attacks on their own, so we turned them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is useless if the code still runs, so we made the interception point a pass or fail check. The guarded decorator, guarded_exec and guard all scan synchronously before execution, fail closed, and run exactly the bytes that were scanned. In the demo, the safe snippet runs and creates its marker file, the unsafe one is blocked and its marker never appears, and a decorated agent function's body is never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42-row public dev sample we score perfectly: precision and recall of 1, zero false positives, and exact categories and languages. But this sample guided our development, so it is not an independent test. The honest number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we care about most. On two blind files, 125 snippets, with predictions saved before we read the expected outputs, we got 95.2% verdict accuracy, 95.5% precision and 97.7% recall. Exact category sets drop to 80%, we flagged 4 of 38 benign snippets and missed 2 of 87 attacks. On another open-source analyser's labelled corpus, scan only, we caught 42 of 46 must-flag files and allowed 40 of 43 must-allow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dev sample only as a test set and kept its text out of rules and training. 1,016 behaviour-preserving rewrites, like renaming and wrapping, changed zero verdicts. Every fix became a general mechanism with a benign twin, and we measured false positives on real code: about 8% on the standard library and 7% on third-party modules, mostly genuine dual-use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CodeGuard takes about 2 milliseconds at the median and about 7 at the 95th percentile, with 86 to 87% of calls under 5 milliseconds. All models together are 1.7 MB, it runs on CPU only and needs no network. Key optimisations include an indexed typosquat lookup and head-plus-tail scanning, so padding a file cannot hide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analysis has limits. Heavily obfuscated code that relies on unknown libraries or runtime-only data can slip through, languages without a full front-end get a coarser analysis, and we flag about 7 to 8% of dual-use library code. On the hidden set we expect roughly 90 to 95% verdict accuracy and 78 to 86% exact category sets. Next we want more front-ends, more diverse labelled data and a wider npm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it live. A pure function is allowed; a snippet that reads cloud credentials and posts them outside is blocked as secret access and data exfiltration, with the lines highlighted and a plain-English reason; a parameterised SQL look-alike is allowed; and the interception check passes. CodeGuard is fast, explainable, uses no LLM, and is honest about its limits.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Use the short answer, then point to the matching main slide: data flow on slide 5, overfitting on slide 11, learned parts on slide 7, speed and head-plus-tail scanning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everything we depend on is open source under permissive licences. The optional MiniLM weights are not used by default, and nothing calls an LLM or external API at inference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G_TITLE">
    <p:bg>
      <p:bgPr>
        <a:solidFill>
          <a:srgbClr val="0B14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03520" cy="1920240"/>
          </a:xfrm>
          <a:prstGeom prst="rect">
            <a:avLst/>
          </a:prstGeom>
          <a:noFill/>
          <a:ln/>
        </p:spPr>
        <p:txBody>
          <a:bodyPr wrap="square" rtlCol="0"/>
          <a:lstStyle>
            <a:lvl1pPr algn="l" indent="0" marL="0">
              <a:buNone/>
              <a:defRPr lang="en-US" sz="3000" b="1" dirty="0">
                <a:solidFill>
                  <a:srgbClr val="E8EEF6"/>
                </a:solidFill>
                <a:latin typeface="Calibri" pitchFamily="34" charset="0"/>
                <a:ea typeface="Calibri" pitchFamily="34" charset="-122"/>
                <a:cs typeface="Calibri" pitchFamily="34" charset="-120"/>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G_CONTENT">
    <p:bg>
      <p:bgPr>
        <a:solidFill>
          <a:srgbClr val="0B14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rgbClr val="E8EEF6"/>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93A4BD"/>
                </a:solidFill>
                <a:latin typeface="Calibri" pitchFamily="34" charset="0"/>
                <a:ea typeface="Calibri" pitchFamily="34" charset="-122"/>
                <a:cs typeface="Calibri" pitchFamily="34" charset="-120"/>
              </a:rPr>
              <a:t>CodeGuard</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G_BACKUP">
    <p:bg>
      <p:bgPr>
        <a:solidFill>
          <a:srgbClr val="0B14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rgbClr val="E8EEF6"/>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rgbClr val="93A4BD"/>
                </a:solidFill>
                <a:latin typeface="Calibri" pitchFamily="34" charset="0"/>
                <a:ea typeface="Calibri" pitchFamily="34" charset="-122"/>
                <a:cs typeface="Calibri" pitchFamily="34" charset="-120"/>
              </a:rPr>
              <a:t>CodeGuard  ·  Backup</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ShreyDudie/CodeGuard_Shrey-Mod" TargetMode="Externa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303520" cy="1920240"/>
          </a:xfrm>
          <a:prstGeom prst="rect">
            <a:avLst/>
          </a:prstGeom>
          <a:noFill/>
          <a:ln/>
        </p:spPr>
        <p:txBody>
          <a:bodyPr wrap="square" lIns="0" tIns="0" rIns="0" bIns="0" rtlCol="0" anchor="t"/>
          <a:lstStyle/>
          <a:p>
            <a:pPr algn="l" indent="0" marL="0">
              <a:buNone/>
            </a:pPr>
            <a:r>
              <a:rPr lang="en-US" sz="4800" b="1" dirty="0">
                <a:solidFill>
                  <a:srgbClr val="14B8A6"/>
                </a:solidFill>
                <a:latin typeface="Calibri" pitchFamily="34" charset="0"/>
                <a:ea typeface="Calibri" pitchFamily="34" charset="-122"/>
                <a:cs typeface="Calibri" pitchFamily="34" charset="-120"/>
              </a:rPr>
              <a:t>CodeGuard</a:t>
            </a:r>
            <a:endParaRPr lang="en-US" sz="3000" dirty="0"/>
          </a:p>
          <a:p>
            <a:pPr algn="l" indent="0" marL="0">
              <a:buNone/>
            </a:pPr>
            <a:r>
              <a:rPr lang="en-US" sz="3000" b="1" dirty="0">
                <a:solidFill>
                  <a:srgbClr val="E8EEF6"/>
                </a:solidFill>
                <a:latin typeface="Calibri" pitchFamily="34" charset="0"/>
                <a:ea typeface="Calibri" pitchFamily="34" charset="-122"/>
                <a:cs typeface="Calibri" pitchFamily="34" charset="-120"/>
              </a:rPr>
              <a:t>Stop unsafe AI-generated code before it runs</a:t>
            </a:r>
            <a:endParaRPr lang="en-US" sz="3000" dirty="0"/>
          </a:p>
        </p:txBody>
      </p:sp>
      <p:sp>
        <p:nvSpPr>
          <p:cNvPr id="3" name="text_1"/>
          <p:cNvSpPr txBox="1"/>
          <p:nvPr/>
        </p:nvSpPr>
        <p:spPr>
          <a:xfrm>
            <a:off x="548640" y="2971800"/>
            <a:ext cx="5303520" cy="365760"/>
          </a:xfrm>
          <a:prstGeom prst="rect">
            <a:avLst/>
          </a:prstGeom>
          <a:noFill/>
          <a:ln/>
        </p:spPr>
        <p:txBody>
          <a:bodyPr wrap="square" lIns="0" tIns="0" rIns="0" bIns="0" rtlCol="0" anchor="t"/>
          <a:lstStyle/>
          <a:p>
            <a:pPr indent="0" marL="0">
              <a:buNone/>
            </a:pPr>
            <a:r>
              <a:rPr lang="en-US" sz="1800" dirty="0">
                <a:solidFill>
                  <a:srgbClr val="93A4BD"/>
                </a:solidFill>
                <a:latin typeface="Calibri" pitchFamily="34" charset="0"/>
                <a:ea typeface="Calibri" pitchFamily="34" charset="-122"/>
                <a:cs typeface="Calibri" pitchFamily="34" charset="-120"/>
              </a:rPr>
              <a:t>Pre-execution safety layer  ·  CPU-only  ·  no LLM</a:t>
            </a:r>
            <a:endParaRPr lang="en-US" sz="1800" dirty="0"/>
          </a:p>
        </p:txBody>
      </p:sp>
      <p:sp>
        <p:nvSpPr>
          <p:cNvPr id="4" name="chip_2"/>
          <p:cNvSpPr/>
          <p:nvPr/>
        </p:nvSpPr>
        <p:spPr>
          <a:xfrm>
            <a:off x="548640" y="3611880"/>
            <a:ext cx="1271016" cy="365760"/>
          </a:xfrm>
          <a:prstGeom prst="roundRect">
            <a:avLst>
              <a:gd name="adj" fmla="val 50000"/>
            </a:avLst>
          </a:prstGeom>
          <a:solidFill>
            <a:srgbClr val="13213A"/>
          </a:solidFill>
          <a:ln w="12700">
            <a:solidFill>
              <a:srgbClr val="14B8A6"/>
            </a:solidFill>
            <a:prstDash val="solid"/>
          </a:ln>
        </p:spPr>
      </p:sp>
      <p:sp>
        <p:nvSpPr>
          <p:cNvPr id="5" name="text_3"/>
          <p:cNvSpPr txBox="1"/>
          <p:nvPr/>
        </p:nvSpPr>
        <p:spPr>
          <a:xfrm>
            <a:off x="548640" y="3611880"/>
            <a:ext cx="1271016" cy="365760"/>
          </a:xfrm>
          <a:prstGeom prst="rect">
            <a:avLst/>
          </a:prstGeom>
          <a:noFill/>
          <a:ln/>
        </p:spPr>
        <p:txBody>
          <a:bodyPr wrap="square" lIns="0" tIns="0" rIns="0" bIns="0" rtlCol="0" anchor="ctr"/>
          <a:lstStyle/>
          <a:p>
            <a:pPr algn="ctr" indent="0" marL="0">
              <a:buNone/>
            </a:pPr>
            <a:r>
              <a:rPr lang="en-US" sz="1300" dirty="0">
                <a:solidFill>
                  <a:srgbClr val="5EEAD4"/>
                </a:solidFill>
                <a:latin typeface="Calibri" pitchFamily="34" charset="0"/>
                <a:ea typeface="Calibri" pitchFamily="34" charset="-122"/>
                <a:cs typeface="Calibri" pitchFamily="34" charset="-120"/>
              </a:rPr>
              <a:t>~2 ms median</a:t>
            </a:r>
            <a:endParaRPr lang="en-US" sz="1300" dirty="0"/>
          </a:p>
        </p:txBody>
      </p:sp>
      <p:sp>
        <p:nvSpPr>
          <p:cNvPr id="6" name="chip_4"/>
          <p:cNvSpPr/>
          <p:nvPr/>
        </p:nvSpPr>
        <p:spPr>
          <a:xfrm>
            <a:off x="2002536" y="3611880"/>
            <a:ext cx="1531620" cy="365760"/>
          </a:xfrm>
          <a:prstGeom prst="roundRect">
            <a:avLst>
              <a:gd name="adj" fmla="val 50000"/>
            </a:avLst>
          </a:prstGeom>
          <a:solidFill>
            <a:srgbClr val="13213A"/>
          </a:solidFill>
          <a:ln w="12700">
            <a:solidFill>
              <a:srgbClr val="14B8A6"/>
            </a:solidFill>
            <a:prstDash val="solid"/>
          </a:ln>
        </p:spPr>
      </p:sp>
      <p:sp>
        <p:nvSpPr>
          <p:cNvPr id="7" name="text_5"/>
          <p:cNvSpPr txBox="1"/>
          <p:nvPr/>
        </p:nvSpPr>
        <p:spPr>
          <a:xfrm>
            <a:off x="2002536" y="3611880"/>
            <a:ext cx="1531620" cy="365760"/>
          </a:xfrm>
          <a:prstGeom prst="rect">
            <a:avLst/>
          </a:prstGeom>
          <a:noFill/>
          <a:ln/>
        </p:spPr>
        <p:txBody>
          <a:bodyPr wrap="square" lIns="0" tIns="0" rIns="0" bIns="0" rtlCol="0" anchor="ctr"/>
          <a:lstStyle/>
          <a:p>
            <a:pPr algn="ctr" indent="0" marL="0">
              <a:buNone/>
            </a:pPr>
            <a:r>
              <a:rPr lang="en-US" sz="1300" dirty="0">
                <a:solidFill>
                  <a:srgbClr val="5EEAD4"/>
                </a:solidFill>
                <a:latin typeface="Calibri" pitchFamily="34" charset="0"/>
                <a:ea typeface="Calibri" pitchFamily="34" charset="-122"/>
                <a:cs typeface="Calibri" pitchFamily="34" charset="-120"/>
              </a:rPr>
              <a:t>No external API</a:t>
            </a:r>
            <a:endParaRPr lang="en-US" sz="1300" dirty="0"/>
          </a:p>
        </p:txBody>
      </p:sp>
      <p:sp>
        <p:nvSpPr>
          <p:cNvPr id="8" name="chip_6"/>
          <p:cNvSpPr/>
          <p:nvPr/>
        </p:nvSpPr>
        <p:spPr>
          <a:xfrm>
            <a:off x="3717036" y="3611880"/>
            <a:ext cx="2052828" cy="365760"/>
          </a:xfrm>
          <a:prstGeom prst="roundRect">
            <a:avLst>
              <a:gd name="adj" fmla="val 50000"/>
            </a:avLst>
          </a:prstGeom>
          <a:solidFill>
            <a:srgbClr val="13213A"/>
          </a:solidFill>
          <a:ln w="12700">
            <a:solidFill>
              <a:srgbClr val="14B8A6"/>
            </a:solidFill>
            <a:prstDash val="solid"/>
          </a:ln>
        </p:spPr>
      </p:sp>
      <p:sp>
        <p:nvSpPr>
          <p:cNvPr id="9" name="text_7"/>
          <p:cNvSpPr txBox="1"/>
          <p:nvPr/>
        </p:nvSpPr>
        <p:spPr>
          <a:xfrm>
            <a:off x="3717036" y="3611880"/>
            <a:ext cx="2052828" cy="365760"/>
          </a:xfrm>
          <a:prstGeom prst="rect">
            <a:avLst/>
          </a:prstGeom>
          <a:noFill/>
          <a:ln/>
        </p:spPr>
        <p:txBody>
          <a:bodyPr wrap="square" lIns="0" tIns="0" rIns="0" bIns="0" rtlCol="0" anchor="ctr"/>
          <a:lstStyle/>
          <a:p>
            <a:pPr algn="ctr" indent="0" marL="0">
              <a:buNone/>
            </a:pPr>
            <a:r>
              <a:rPr lang="en-US" sz="1300" dirty="0">
                <a:solidFill>
                  <a:srgbClr val="5EEAD4"/>
                </a:solidFill>
                <a:latin typeface="Calibri" pitchFamily="34" charset="0"/>
                <a:ea typeface="Calibri" pitchFamily="34" charset="-122"/>
                <a:cs typeface="Calibri" pitchFamily="34" charset="-120"/>
              </a:rPr>
              <a:t>Plain-English reasons</a:t>
            </a:r>
            <a:endParaRPr lang="en-US" sz="1300" dirty="0"/>
          </a:p>
        </p:txBody>
      </p:sp>
      <p:sp>
        <p:nvSpPr>
          <p:cNvPr id="10" name="ring_outer"/>
          <p:cNvSpPr/>
          <p:nvPr/>
        </p:nvSpPr>
        <p:spPr>
          <a:xfrm>
            <a:off x="5989320" y="914400"/>
            <a:ext cx="2743200" cy="2743200"/>
          </a:xfrm>
          <a:prstGeom prst="ellipse">
            <a:avLst/>
          </a:prstGeom>
          <a:solidFill>
            <a:srgbClr val="0B1426"/>
          </a:solidFill>
          <a:ln w="19050">
            <a:solidFill>
              <a:srgbClr val="2A3E60"/>
            </a:solidFill>
            <a:prstDash val="solid"/>
          </a:ln>
        </p:spPr>
      </p:sp>
      <p:sp>
        <p:nvSpPr>
          <p:cNvPr id="11" name="ring_inner"/>
          <p:cNvSpPr/>
          <p:nvPr/>
        </p:nvSpPr>
        <p:spPr>
          <a:xfrm>
            <a:off x="6309360" y="1234440"/>
            <a:ext cx="2103120" cy="2103120"/>
          </a:xfrm>
          <a:prstGeom prst="ellipse">
            <a:avLst/>
          </a:prstGeom>
          <a:solidFill>
            <a:srgbClr val="14B8A6"/>
          </a:solidFill>
          <a:ln w="12700">
            <a:solidFill>
              <a:srgbClr val="14B8A6"/>
            </a:solidFill>
            <a:prstDash val="solid"/>
          </a:ln>
        </p:spPr>
      </p:sp>
      <p:pic>
        <p:nvPicPr>
          <p:cNvPr id="12" name="shield" descr="Shield">    </p:cNvPr>
          <p:cNvPicPr>
            <a:picLocks noChangeAspect="1"/>
          </p:cNvPicPr>
          <p:nvPr/>
        </p:nvPicPr>
        <p:blipFill>
          <a:blip r:embed="rId1"/>
          <a:stretch>
            <a:fillRect/>
          </a:stretch>
        </p:blipFill>
        <p:spPr>
          <a:xfrm>
            <a:off x="6858000" y="1783080"/>
            <a:ext cx="1005840" cy="1005840"/>
          </a:xfrm>
          <a:prstGeom prst="rect">
            <a:avLst/>
          </a:prstGeom>
        </p:spPr>
      </p:pic>
      <p:sp>
        <p:nvSpPr>
          <p:cNvPr id="13" name="text_8"/>
          <p:cNvSpPr txBox="1"/>
          <p:nvPr/>
        </p:nvSpPr>
        <p:spPr>
          <a:xfrm>
            <a:off x="5989320" y="3794760"/>
            <a:ext cx="2743200" cy="274320"/>
          </a:xfrm>
          <a:prstGeom prst="rect">
            <a:avLst/>
          </a:prstGeom>
          <a:noFill/>
          <a:ln/>
        </p:spPr>
        <p:txBody>
          <a:bodyPr wrap="square" lIns="0" tIns="0" rIns="0" bIns="0" rtlCol="0" anchor="t"/>
          <a:lstStyle/>
          <a:p>
            <a:pPr algn="ctr" indent="0" marL="0">
              <a:buNone/>
            </a:pPr>
            <a:r>
              <a:rPr lang="en-US" sz="1200" dirty="0">
                <a:solidFill>
                  <a:srgbClr val="93A4BD"/>
                </a:solidFill>
                <a:latin typeface="Calibri" pitchFamily="34" charset="0"/>
                <a:ea typeface="Calibri" pitchFamily="34" charset="-122"/>
                <a:cs typeface="Calibri" pitchFamily="34" charset="-120"/>
              </a:rPr>
              <a:t>Allow / block before execution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One bad snippet is all it takes</a:t>
            </a:r>
            <a:endParaRPr lang="en-US" sz="2800" dirty="0"/>
          </a:p>
        </p:txBody>
      </p:sp>
      <p:sp>
        <p:nvSpPr>
          <p:cNvPr id="3" name="card_9"/>
          <p:cNvSpPr/>
          <p:nvPr/>
        </p:nvSpPr>
        <p:spPr>
          <a:xfrm>
            <a:off x="457200" y="1143000"/>
            <a:ext cx="2377440" cy="685800"/>
          </a:xfrm>
          <a:prstGeom prst="roundRect">
            <a:avLst>
              <a:gd name="adj" fmla="val 10667"/>
            </a:avLst>
          </a:prstGeom>
          <a:solidFill>
            <a:srgbClr val="13213A"/>
          </a:solidFill>
          <a:ln w="19050">
            <a:solidFill>
              <a:srgbClr val="13213A"/>
            </a:solidFill>
            <a:prstDash val="solid"/>
          </a:ln>
        </p:spPr>
      </p:sp>
      <p:sp>
        <p:nvSpPr>
          <p:cNvPr id="4" name="text_10"/>
          <p:cNvSpPr txBox="1"/>
          <p:nvPr/>
        </p:nvSpPr>
        <p:spPr>
          <a:xfrm>
            <a:off x="457200" y="1143000"/>
            <a:ext cx="2377440" cy="685800"/>
          </a:xfrm>
          <a:prstGeom prst="rect">
            <a:avLst/>
          </a:prstGeom>
          <a:noFill/>
          <a:ln/>
        </p:spPr>
        <p:txBody>
          <a:bodyPr wrap="square" lIns="0" tIns="0" rIns="0" bIns="0" rtlCol="0" anchor="ctr"/>
          <a:lstStyle/>
          <a:p>
            <a:pPr algn="ctr" indent="0" marL="0">
              <a:buNone/>
            </a:pPr>
            <a:r>
              <a:rPr lang="en-US" sz="1400" b="1" dirty="0">
                <a:solidFill>
                  <a:srgbClr val="E8EEF6"/>
                </a:solidFill>
                <a:latin typeface="Calibri" pitchFamily="34" charset="0"/>
                <a:ea typeface="Calibri" pitchFamily="34" charset="-122"/>
                <a:cs typeface="Calibri" pitchFamily="34" charset="-120"/>
              </a:rPr>
              <a:t>AI agent writes code</a:t>
            </a:r>
            <a:endParaRPr lang="en-US" sz="1400" dirty="0"/>
          </a:p>
        </p:txBody>
      </p:sp>
      <p:sp>
        <p:nvSpPr>
          <p:cNvPr id="5" name="arrow_11"/>
          <p:cNvSpPr/>
          <p:nvPr/>
        </p:nvSpPr>
        <p:spPr>
          <a:xfrm>
            <a:off x="2880360" y="1485900"/>
            <a:ext cx="457200" cy="914"/>
          </a:xfrm>
          <a:prstGeom prst="line">
            <a:avLst/>
          </a:prstGeom>
          <a:noFill/>
          <a:ln w="25400">
            <a:solidFill>
              <a:srgbClr val="93A4BD"/>
            </a:solidFill>
            <a:prstDash val="solid"/>
            <a:tailEnd type="triangle"/>
          </a:ln>
        </p:spPr>
      </p:sp>
      <p:sp>
        <p:nvSpPr>
          <p:cNvPr id="6" name="card_12"/>
          <p:cNvSpPr/>
          <p:nvPr/>
        </p:nvSpPr>
        <p:spPr>
          <a:xfrm>
            <a:off x="3383280" y="1143000"/>
            <a:ext cx="2377440" cy="685800"/>
          </a:xfrm>
          <a:prstGeom prst="roundRect">
            <a:avLst>
              <a:gd name="adj" fmla="val 10667"/>
            </a:avLst>
          </a:prstGeom>
          <a:solidFill>
            <a:srgbClr val="13213A"/>
          </a:solidFill>
          <a:ln w="19050">
            <a:solidFill>
              <a:srgbClr val="14B8A6"/>
            </a:solidFill>
            <a:prstDash val="dash"/>
          </a:ln>
        </p:spPr>
      </p:sp>
      <p:sp>
        <p:nvSpPr>
          <p:cNvPr id="7" name="text_13"/>
          <p:cNvSpPr txBox="1"/>
          <p:nvPr/>
        </p:nvSpPr>
        <p:spPr>
          <a:xfrm>
            <a:off x="3383280" y="1143000"/>
            <a:ext cx="2377440" cy="685800"/>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Cheap check BEFORE it runs</a:t>
            </a:r>
            <a:endParaRPr lang="en-US" sz="1400" dirty="0"/>
          </a:p>
        </p:txBody>
      </p:sp>
      <p:sp>
        <p:nvSpPr>
          <p:cNvPr id="8" name="arrow_14"/>
          <p:cNvSpPr/>
          <p:nvPr/>
        </p:nvSpPr>
        <p:spPr>
          <a:xfrm>
            <a:off x="5806440" y="1485900"/>
            <a:ext cx="457200" cy="914"/>
          </a:xfrm>
          <a:prstGeom prst="line">
            <a:avLst/>
          </a:prstGeom>
          <a:noFill/>
          <a:ln w="25400">
            <a:solidFill>
              <a:srgbClr val="93A4BD"/>
            </a:solidFill>
            <a:prstDash val="solid"/>
            <a:tailEnd type="triangle"/>
          </a:ln>
        </p:spPr>
      </p:sp>
      <p:sp>
        <p:nvSpPr>
          <p:cNvPr id="9" name="card_15"/>
          <p:cNvSpPr/>
          <p:nvPr/>
        </p:nvSpPr>
        <p:spPr>
          <a:xfrm>
            <a:off x="6309360" y="1143000"/>
            <a:ext cx="2377440" cy="685800"/>
          </a:xfrm>
          <a:prstGeom prst="roundRect">
            <a:avLst>
              <a:gd name="adj" fmla="val 10667"/>
            </a:avLst>
          </a:prstGeom>
          <a:solidFill>
            <a:srgbClr val="13213A"/>
          </a:solidFill>
          <a:ln w="19050">
            <a:solidFill>
              <a:srgbClr val="13213A"/>
            </a:solidFill>
            <a:prstDash val="solid"/>
          </a:ln>
        </p:spPr>
      </p:sp>
      <p:sp>
        <p:nvSpPr>
          <p:cNvPr id="10" name="text_16"/>
          <p:cNvSpPr txBox="1"/>
          <p:nvPr/>
        </p:nvSpPr>
        <p:spPr>
          <a:xfrm>
            <a:off x="6309360" y="1143000"/>
            <a:ext cx="2377440" cy="685800"/>
          </a:xfrm>
          <a:prstGeom prst="rect">
            <a:avLst/>
          </a:prstGeom>
          <a:noFill/>
          <a:ln/>
        </p:spPr>
        <p:txBody>
          <a:bodyPr wrap="square" lIns="0" tIns="0" rIns="0" bIns="0" rtlCol="0" anchor="ctr"/>
          <a:lstStyle/>
          <a:p>
            <a:pPr algn="ctr" indent="0" marL="0">
              <a:buNone/>
            </a:pPr>
            <a:r>
              <a:rPr lang="en-US" sz="1400" b="1" dirty="0">
                <a:solidFill>
                  <a:srgbClr val="E8EEF6"/>
                </a:solidFill>
                <a:latin typeface="Calibri" pitchFamily="34" charset="0"/>
                <a:ea typeface="Calibri" pitchFamily="34" charset="-122"/>
                <a:cs typeface="Calibri" pitchFamily="34" charset="-120"/>
              </a:rPr>
              <a:t>Code executes</a:t>
            </a:r>
            <a:endParaRPr lang="en-US" sz="1400" dirty="0"/>
          </a:p>
        </p:txBody>
      </p:sp>
      <p:sp>
        <p:nvSpPr>
          <p:cNvPr id="11" name="text_17"/>
          <p:cNvSpPr txBox="1"/>
          <p:nvPr/>
        </p:nvSpPr>
        <p:spPr>
          <a:xfrm>
            <a:off x="457200" y="2148840"/>
            <a:ext cx="8229600" cy="320040"/>
          </a:xfrm>
          <a:prstGeom prst="rect">
            <a:avLst/>
          </a:prstGeom>
          <a:noFill/>
          <a:ln/>
        </p:spPr>
        <p:txBody>
          <a:bodyPr wrap="square" lIns="0" tIns="0" rIns="0" bIns="0" rtlCol="0" anchor="t"/>
          <a:lstStyle/>
          <a:p>
            <a:pPr indent="0" marL="0">
              <a:buNone/>
            </a:pPr>
            <a:r>
              <a:rPr lang="en-US" sz="1500" dirty="0">
                <a:solidFill>
                  <a:srgbClr val="93A4BD"/>
                </a:solidFill>
                <a:latin typeface="Calibri" pitchFamily="34" charset="0"/>
                <a:ea typeface="Calibri" pitchFamily="34" charset="-122"/>
                <a:cs typeface="Calibri" pitchFamily="34" charset="-120"/>
              </a:rPr>
              <a:t>Without that check, one bad snippet can:</a:t>
            </a:r>
            <a:endParaRPr lang="en-US" sz="1500" dirty="0"/>
          </a:p>
        </p:txBody>
      </p:sp>
      <p:sp>
        <p:nvSpPr>
          <p:cNvPr id="12" name="card_18"/>
          <p:cNvSpPr/>
          <p:nvPr/>
        </p:nvSpPr>
        <p:spPr>
          <a:xfrm>
            <a:off x="457200" y="2606040"/>
            <a:ext cx="1920240" cy="1783080"/>
          </a:xfrm>
          <a:prstGeom prst="roundRect">
            <a:avLst>
              <a:gd name="adj" fmla="val 4103"/>
            </a:avLst>
          </a:prstGeom>
          <a:solidFill>
            <a:srgbClr val="13213A"/>
          </a:solidFill>
          <a:ln w="12700">
            <a:solidFill>
              <a:srgbClr val="13213A"/>
            </a:solidFill>
            <a:prstDash val="solid"/>
          </a:ln>
        </p:spPr>
      </p:sp>
      <p:sp>
        <p:nvSpPr>
          <p:cNvPr id="13" name="iconbg_19"/>
          <p:cNvSpPr/>
          <p:nvPr/>
        </p:nvSpPr>
        <p:spPr>
          <a:xfrm>
            <a:off x="1097280" y="2834640"/>
            <a:ext cx="640080" cy="640080"/>
          </a:xfrm>
          <a:prstGeom prst="ellipse">
            <a:avLst/>
          </a:prstGeom>
          <a:solidFill>
            <a:srgbClr val="F0616D"/>
          </a:solidFill>
          <a:ln w="12700">
            <a:solidFill>
              <a:srgbClr val="F0616D"/>
            </a:solidFill>
            <a:prstDash val="solid"/>
          </a:ln>
        </p:spPr>
      </p:sp>
      <p:pic>
        <p:nvPicPr>
          <p:cNvPr id="14" name="icon_20" descr="key">    </p:cNvPr>
          <p:cNvPicPr>
            <a:picLocks noChangeAspect="1"/>
          </p:cNvPicPr>
          <p:nvPr/>
        </p:nvPicPr>
        <p:blipFill>
          <a:blip r:embed="rId1"/>
          <a:stretch>
            <a:fillRect/>
          </a:stretch>
        </p:blipFill>
        <p:spPr>
          <a:xfrm>
            <a:off x="1257300" y="2994660"/>
            <a:ext cx="320040" cy="320040"/>
          </a:xfrm>
          <a:prstGeom prst="rect">
            <a:avLst/>
          </a:prstGeom>
        </p:spPr>
      </p:pic>
      <p:sp>
        <p:nvSpPr>
          <p:cNvPr id="15" name="text_21"/>
          <p:cNvSpPr txBox="1"/>
          <p:nvPr/>
        </p:nvSpPr>
        <p:spPr>
          <a:xfrm>
            <a:off x="594360" y="3611880"/>
            <a:ext cx="1645920" cy="640080"/>
          </a:xfrm>
          <a:prstGeom prst="rect">
            <a:avLst/>
          </a:prstGeom>
          <a:noFill/>
          <a:ln/>
        </p:spPr>
        <p:txBody>
          <a:bodyPr wrap="square" lIns="0" tIns="0" rIns="0" bIns="0" rtlCol="0" anchor="ctr"/>
          <a:lstStyle/>
          <a:p>
            <a:pPr algn="ctr" indent="0" marL="0">
              <a:buNone/>
            </a:pPr>
            <a:r>
              <a:rPr lang="en-US" sz="1600" b="1" dirty="0">
                <a:solidFill>
                  <a:srgbClr val="E8EEF6"/>
                </a:solidFill>
                <a:latin typeface="Calibri" pitchFamily="34" charset="0"/>
                <a:ea typeface="Calibri" pitchFamily="34" charset="-122"/>
                <a:cs typeface="Calibri" pitchFamily="34" charset="-120"/>
              </a:rPr>
              <a:t>Leak secrets</a:t>
            </a:r>
            <a:endParaRPr lang="en-US" sz="1600" dirty="0"/>
          </a:p>
        </p:txBody>
      </p:sp>
      <p:sp>
        <p:nvSpPr>
          <p:cNvPr id="16" name="card_22"/>
          <p:cNvSpPr/>
          <p:nvPr/>
        </p:nvSpPr>
        <p:spPr>
          <a:xfrm>
            <a:off x="2560320" y="2606040"/>
            <a:ext cx="1920240" cy="1783080"/>
          </a:xfrm>
          <a:prstGeom prst="roundRect">
            <a:avLst>
              <a:gd name="adj" fmla="val 4103"/>
            </a:avLst>
          </a:prstGeom>
          <a:solidFill>
            <a:srgbClr val="13213A"/>
          </a:solidFill>
          <a:ln w="12700">
            <a:solidFill>
              <a:srgbClr val="13213A"/>
            </a:solidFill>
            <a:prstDash val="solid"/>
          </a:ln>
        </p:spPr>
      </p:sp>
      <p:sp>
        <p:nvSpPr>
          <p:cNvPr id="17" name="iconbg_23"/>
          <p:cNvSpPr/>
          <p:nvPr/>
        </p:nvSpPr>
        <p:spPr>
          <a:xfrm>
            <a:off x="3200400" y="2834640"/>
            <a:ext cx="640080" cy="640080"/>
          </a:xfrm>
          <a:prstGeom prst="ellipse">
            <a:avLst/>
          </a:prstGeom>
          <a:solidFill>
            <a:srgbClr val="F0616D"/>
          </a:solidFill>
          <a:ln w="12700">
            <a:solidFill>
              <a:srgbClr val="F0616D"/>
            </a:solidFill>
            <a:prstDash val="solid"/>
          </a:ln>
        </p:spPr>
      </p:sp>
      <p:pic>
        <p:nvPicPr>
          <p:cNvPr id="18" name="icon_24" descr="trash">    </p:cNvPr>
          <p:cNvPicPr>
            <a:picLocks noChangeAspect="1"/>
          </p:cNvPicPr>
          <p:nvPr/>
        </p:nvPicPr>
        <p:blipFill>
          <a:blip r:embed="rId2"/>
          <a:stretch>
            <a:fillRect/>
          </a:stretch>
        </p:blipFill>
        <p:spPr>
          <a:xfrm>
            <a:off x="3360420" y="2994660"/>
            <a:ext cx="320040" cy="320040"/>
          </a:xfrm>
          <a:prstGeom prst="rect">
            <a:avLst/>
          </a:prstGeom>
        </p:spPr>
      </p:pic>
      <p:sp>
        <p:nvSpPr>
          <p:cNvPr id="19" name="text_25"/>
          <p:cNvSpPr txBox="1"/>
          <p:nvPr/>
        </p:nvSpPr>
        <p:spPr>
          <a:xfrm>
            <a:off x="2697480" y="3611880"/>
            <a:ext cx="1645920" cy="640080"/>
          </a:xfrm>
          <a:prstGeom prst="rect">
            <a:avLst/>
          </a:prstGeom>
          <a:noFill/>
          <a:ln/>
        </p:spPr>
        <p:txBody>
          <a:bodyPr wrap="square" lIns="0" tIns="0" rIns="0" bIns="0" rtlCol="0" anchor="ctr"/>
          <a:lstStyle/>
          <a:p>
            <a:pPr algn="ctr" indent="0" marL="0">
              <a:buNone/>
            </a:pPr>
            <a:r>
              <a:rPr lang="en-US" sz="1600" b="1" dirty="0">
                <a:solidFill>
                  <a:srgbClr val="E8EEF6"/>
                </a:solidFill>
                <a:latin typeface="Calibri" pitchFamily="34" charset="0"/>
                <a:ea typeface="Calibri" pitchFamily="34" charset="-122"/>
                <a:cs typeface="Calibri" pitchFamily="34" charset="-120"/>
              </a:rPr>
              <a:t>Delete data</a:t>
            </a:r>
            <a:endParaRPr lang="en-US" sz="1600" dirty="0"/>
          </a:p>
        </p:txBody>
      </p:sp>
      <p:sp>
        <p:nvSpPr>
          <p:cNvPr id="20" name="card_26"/>
          <p:cNvSpPr/>
          <p:nvPr/>
        </p:nvSpPr>
        <p:spPr>
          <a:xfrm>
            <a:off x="4663440" y="2606040"/>
            <a:ext cx="1920240" cy="1783080"/>
          </a:xfrm>
          <a:prstGeom prst="roundRect">
            <a:avLst>
              <a:gd name="adj" fmla="val 4103"/>
            </a:avLst>
          </a:prstGeom>
          <a:solidFill>
            <a:srgbClr val="13213A"/>
          </a:solidFill>
          <a:ln w="12700">
            <a:solidFill>
              <a:srgbClr val="13213A"/>
            </a:solidFill>
            <a:prstDash val="solid"/>
          </a:ln>
        </p:spPr>
      </p:sp>
      <p:sp>
        <p:nvSpPr>
          <p:cNvPr id="21" name="iconbg_27"/>
          <p:cNvSpPr/>
          <p:nvPr/>
        </p:nvSpPr>
        <p:spPr>
          <a:xfrm>
            <a:off x="5303520" y="2834640"/>
            <a:ext cx="640080" cy="640080"/>
          </a:xfrm>
          <a:prstGeom prst="ellipse">
            <a:avLst/>
          </a:prstGeom>
          <a:solidFill>
            <a:srgbClr val="F0616D"/>
          </a:solidFill>
          <a:ln w="12700">
            <a:solidFill>
              <a:srgbClr val="F0616D"/>
            </a:solidFill>
            <a:prstDash val="solid"/>
          </a:ln>
        </p:spPr>
      </p:sp>
      <p:pic>
        <p:nvPicPr>
          <p:cNvPr id="22" name="icon_28" descr="door">    </p:cNvPr>
          <p:cNvPicPr>
            <a:picLocks noChangeAspect="1"/>
          </p:cNvPicPr>
          <p:nvPr/>
        </p:nvPicPr>
        <p:blipFill>
          <a:blip r:embed="rId3"/>
          <a:stretch>
            <a:fillRect/>
          </a:stretch>
        </p:blipFill>
        <p:spPr>
          <a:xfrm>
            <a:off x="5463540" y="2994660"/>
            <a:ext cx="320040" cy="320040"/>
          </a:xfrm>
          <a:prstGeom prst="rect">
            <a:avLst/>
          </a:prstGeom>
        </p:spPr>
      </p:pic>
      <p:sp>
        <p:nvSpPr>
          <p:cNvPr id="23" name="text_29"/>
          <p:cNvSpPr txBox="1"/>
          <p:nvPr/>
        </p:nvSpPr>
        <p:spPr>
          <a:xfrm>
            <a:off x="4800600" y="3611880"/>
            <a:ext cx="1645920" cy="640080"/>
          </a:xfrm>
          <a:prstGeom prst="rect">
            <a:avLst/>
          </a:prstGeom>
          <a:noFill/>
          <a:ln/>
        </p:spPr>
        <p:txBody>
          <a:bodyPr wrap="square" lIns="0" tIns="0" rIns="0" bIns="0" rtlCol="0" anchor="ctr"/>
          <a:lstStyle/>
          <a:p>
            <a:pPr algn="ctr" indent="0" marL="0">
              <a:buNone/>
            </a:pPr>
            <a:r>
              <a:rPr lang="en-US" sz="1600" b="1" dirty="0">
                <a:solidFill>
                  <a:srgbClr val="E8EEF6"/>
                </a:solidFill>
                <a:latin typeface="Calibri" pitchFamily="34" charset="0"/>
                <a:ea typeface="Calibri" pitchFamily="34" charset="-122"/>
                <a:cs typeface="Calibri" pitchFamily="34" charset="-120"/>
              </a:rPr>
              <a:t>Open a backdoor</a:t>
            </a:r>
            <a:endParaRPr lang="en-US" sz="1600" dirty="0"/>
          </a:p>
        </p:txBody>
      </p:sp>
      <p:sp>
        <p:nvSpPr>
          <p:cNvPr id="24" name="card_30"/>
          <p:cNvSpPr/>
          <p:nvPr/>
        </p:nvSpPr>
        <p:spPr>
          <a:xfrm>
            <a:off x="6766560" y="2606040"/>
            <a:ext cx="1920240" cy="1783080"/>
          </a:xfrm>
          <a:prstGeom prst="roundRect">
            <a:avLst>
              <a:gd name="adj" fmla="val 4103"/>
            </a:avLst>
          </a:prstGeom>
          <a:solidFill>
            <a:srgbClr val="13213A"/>
          </a:solidFill>
          <a:ln w="12700">
            <a:solidFill>
              <a:srgbClr val="13213A"/>
            </a:solidFill>
            <a:prstDash val="solid"/>
          </a:ln>
        </p:spPr>
      </p:sp>
      <p:sp>
        <p:nvSpPr>
          <p:cNvPr id="25" name="iconbg_31"/>
          <p:cNvSpPr/>
          <p:nvPr/>
        </p:nvSpPr>
        <p:spPr>
          <a:xfrm>
            <a:off x="7406640" y="2834640"/>
            <a:ext cx="640080" cy="640080"/>
          </a:xfrm>
          <a:prstGeom prst="ellipse">
            <a:avLst/>
          </a:prstGeom>
          <a:solidFill>
            <a:srgbClr val="F0616D"/>
          </a:solidFill>
          <a:ln w="12700">
            <a:solidFill>
              <a:srgbClr val="F0616D"/>
            </a:solidFill>
            <a:prstDash val="solid"/>
          </a:ln>
        </p:spPr>
      </p:sp>
      <p:pic>
        <p:nvPicPr>
          <p:cNvPr id="26" name="icon_32" descr="robot">    </p:cNvPr>
          <p:cNvPicPr>
            <a:picLocks noChangeAspect="1"/>
          </p:cNvPicPr>
          <p:nvPr/>
        </p:nvPicPr>
        <p:blipFill>
          <a:blip r:embed="rId4"/>
          <a:stretch>
            <a:fillRect/>
          </a:stretch>
        </p:blipFill>
        <p:spPr>
          <a:xfrm>
            <a:off x="7566660" y="2994660"/>
            <a:ext cx="320040" cy="320040"/>
          </a:xfrm>
          <a:prstGeom prst="rect">
            <a:avLst/>
          </a:prstGeom>
        </p:spPr>
      </p:pic>
      <p:sp>
        <p:nvSpPr>
          <p:cNvPr id="27" name="text_33"/>
          <p:cNvSpPr txBox="1"/>
          <p:nvPr/>
        </p:nvSpPr>
        <p:spPr>
          <a:xfrm>
            <a:off x="6903720" y="3611880"/>
            <a:ext cx="1645920" cy="640080"/>
          </a:xfrm>
          <a:prstGeom prst="rect">
            <a:avLst/>
          </a:prstGeom>
          <a:noFill/>
          <a:ln/>
        </p:spPr>
        <p:txBody>
          <a:bodyPr wrap="square" lIns="0" tIns="0" rIns="0" bIns="0" rtlCol="0" anchor="ctr"/>
          <a:lstStyle/>
          <a:p>
            <a:pPr algn="ctr" indent="0" marL="0">
              <a:buNone/>
            </a:pPr>
            <a:r>
              <a:rPr lang="en-US" sz="1600" b="1" dirty="0">
                <a:solidFill>
                  <a:srgbClr val="E8EEF6"/>
                </a:solidFill>
                <a:latin typeface="Calibri" pitchFamily="34" charset="0"/>
                <a:ea typeface="Calibri" pitchFamily="34" charset="-122"/>
                <a:cs typeface="Calibri" pitchFamily="34" charset="-120"/>
              </a:rPr>
              <a:t>Hijack a reviewer model</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One call in, one explained verdict out</a:t>
            </a:r>
            <a:endParaRPr lang="en-US" sz="2800" dirty="0"/>
          </a:p>
        </p:txBody>
      </p:sp>
      <p:sp>
        <p:nvSpPr>
          <p:cNvPr id="3" name="card_34"/>
          <p:cNvSpPr/>
          <p:nvPr/>
        </p:nvSpPr>
        <p:spPr>
          <a:xfrm>
            <a:off x="457200" y="1097280"/>
            <a:ext cx="3017520" cy="868680"/>
          </a:xfrm>
          <a:prstGeom prst="roundRect">
            <a:avLst>
              <a:gd name="adj" fmla="val 8421"/>
            </a:avLst>
          </a:prstGeom>
          <a:solidFill>
            <a:srgbClr val="13213A"/>
          </a:solidFill>
          <a:ln w="12700">
            <a:solidFill>
              <a:srgbClr val="13213A"/>
            </a:solidFill>
            <a:prstDash val="solid"/>
          </a:ln>
        </p:spPr>
      </p:sp>
      <p:sp>
        <p:nvSpPr>
          <p:cNvPr id="4" name="text_35"/>
          <p:cNvSpPr txBox="1"/>
          <p:nvPr/>
        </p:nvSpPr>
        <p:spPr>
          <a:xfrm>
            <a:off x="640080" y="1188720"/>
            <a:ext cx="1828800" cy="228600"/>
          </a:xfrm>
          <a:prstGeom prst="rect">
            <a:avLst/>
          </a:prstGeom>
          <a:noFill/>
          <a:ln/>
        </p:spPr>
        <p:txBody>
          <a:bodyPr wrap="square" lIns="0" tIns="0" rIns="0" bIns="0" rtlCol="0" anchor="t"/>
          <a:lstStyle/>
          <a:p>
            <a:pPr indent="0" marL="0">
              <a:buNone/>
            </a:pPr>
            <a:r>
              <a:rPr lang="en-US" sz="1100" b="1" spc="200" kern="0" dirty="0">
                <a:solidFill>
                  <a:srgbClr val="14B8A6"/>
                </a:solidFill>
                <a:latin typeface="Calibri" pitchFamily="34" charset="0"/>
                <a:ea typeface="Calibri" pitchFamily="34" charset="-122"/>
                <a:cs typeface="Calibri" pitchFamily="34" charset="-120"/>
              </a:rPr>
              <a:t>INPUT</a:t>
            </a:r>
            <a:endParaRPr lang="en-US" sz="1100" dirty="0"/>
          </a:p>
        </p:txBody>
      </p:sp>
      <p:sp>
        <p:nvSpPr>
          <p:cNvPr id="5" name="text_36"/>
          <p:cNvSpPr txBox="1"/>
          <p:nvPr/>
        </p:nvSpPr>
        <p:spPr>
          <a:xfrm>
            <a:off x="640080" y="1463040"/>
            <a:ext cx="2743200" cy="365760"/>
          </a:xfrm>
          <a:prstGeom prst="rect">
            <a:avLst/>
          </a:prstGeom>
          <a:noFill/>
          <a:ln/>
        </p:spPr>
        <p:txBody>
          <a:bodyPr wrap="square" lIns="0" tIns="0" rIns="0" bIns="0" rtlCol="0" anchor="t"/>
          <a:lstStyle/>
          <a:p>
            <a:pPr indent="0" marL="0">
              <a:buNone/>
            </a:pPr>
            <a:r>
              <a:rPr lang="en-US" sz="1600" dirty="0">
                <a:solidFill>
                  <a:srgbClr val="E8EEF6"/>
                </a:solidFill>
                <a:latin typeface="Courier New" pitchFamily="34" charset="0"/>
                <a:ea typeface="Courier New" pitchFamily="34" charset="-122"/>
                <a:cs typeface="Courier New" pitchFamily="34" charset="-120"/>
              </a:rPr>
              <a:t>{"code": "..."}</a:t>
            </a:r>
            <a:endParaRPr lang="en-US" sz="1600" dirty="0"/>
          </a:p>
        </p:txBody>
      </p:sp>
      <p:sp>
        <p:nvSpPr>
          <p:cNvPr id="6" name="card_37"/>
          <p:cNvSpPr/>
          <p:nvPr/>
        </p:nvSpPr>
        <p:spPr>
          <a:xfrm>
            <a:off x="457200" y="2103120"/>
            <a:ext cx="3017520" cy="822960"/>
          </a:xfrm>
          <a:prstGeom prst="roundRect">
            <a:avLst>
              <a:gd name="adj" fmla="val 8889"/>
            </a:avLst>
          </a:prstGeom>
          <a:solidFill>
            <a:srgbClr val="13213A"/>
          </a:solidFill>
          <a:ln w="12700">
            <a:solidFill>
              <a:srgbClr val="13213A"/>
            </a:solidFill>
            <a:prstDash val="solid"/>
          </a:ln>
        </p:spPr>
      </p:sp>
      <p:sp>
        <p:nvSpPr>
          <p:cNvPr id="7" name="text_38"/>
          <p:cNvSpPr txBox="1"/>
          <p:nvPr/>
        </p:nvSpPr>
        <p:spPr>
          <a:xfrm>
            <a:off x="640080" y="2194560"/>
            <a:ext cx="2286000" cy="228600"/>
          </a:xfrm>
          <a:prstGeom prst="rect">
            <a:avLst/>
          </a:prstGeom>
          <a:noFill/>
          <a:ln/>
        </p:spPr>
        <p:txBody>
          <a:bodyPr wrap="square" lIns="0" tIns="0" rIns="0" bIns="0" rtlCol="0" anchor="t"/>
          <a:lstStyle/>
          <a:p>
            <a:pPr indent="0" marL="0">
              <a:buNone/>
            </a:pPr>
            <a:r>
              <a:rPr lang="en-US" sz="1100" b="1" spc="200" kern="0" dirty="0">
                <a:solidFill>
                  <a:srgbClr val="14B8A6"/>
                </a:solidFill>
                <a:latin typeface="Calibri" pitchFamily="34" charset="0"/>
                <a:ea typeface="Calibri" pitchFamily="34" charset="-122"/>
                <a:cs typeface="Calibri" pitchFamily="34" charset="-120"/>
              </a:rPr>
              <a:t>WAYS TO CALL</a:t>
            </a:r>
            <a:endParaRPr lang="en-US" sz="1100" dirty="0"/>
          </a:p>
        </p:txBody>
      </p:sp>
      <p:sp>
        <p:nvSpPr>
          <p:cNvPr id="8" name="text_39"/>
          <p:cNvSpPr txBox="1"/>
          <p:nvPr/>
        </p:nvSpPr>
        <p:spPr>
          <a:xfrm>
            <a:off x="640080" y="2450592"/>
            <a:ext cx="2743200" cy="457200"/>
          </a:xfrm>
          <a:prstGeom prst="rect">
            <a:avLst/>
          </a:prstGeom>
          <a:noFill/>
          <a:ln/>
        </p:spPr>
        <p:txBody>
          <a:bodyPr wrap="square" lIns="0" tIns="0" rIns="0" bIns="0" rtlCol="0" anchor="t"/>
          <a:lstStyle/>
          <a:p>
            <a:pPr indent="0" marL="0">
              <a:buNone/>
            </a:pPr>
            <a:r>
              <a:rPr lang="en-US" sz="1300" dirty="0">
                <a:solidFill>
                  <a:srgbClr val="E8EEF6"/>
                </a:solidFill>
                <a:latin typeface="Courier New" pitchFamily="34" charset="0"/>
                <a:ea typeface="Courier New" pitchFamily="34" charset="-122"/>
                <a:cs typeface="Courier New" pitchFamily="34" charset="-120"/>
              </a:rPr>
              <a:t>/scan  /batch  /health</a:t>
            </a:r>
            <a:endParaRPr lang="en-US" sz="1300" dirty="0"/>
          </a:p>
          <a:p>
            <a:pPr indent="0" marL="0">
              <a:buNone/>
            </a:pPr>
            <a:r>
              <a:rPr lang="en-US" sz="1300" dirty="0">
                <a:solidFill>
                  <a:srgbClr val="E8EEF6"/>
                </a:solidFill>
                <a:latin typeface="Calibri" pitchFamily="34" charset="0"/>
                <a:ea typeface="Calibri" pitchFamily="34" charset="-122"/>
                <a:cs typeface="Calibri" pitchFamily="34" charset="-120"/>
              </a:rPr>
              <a:t>Browser UI  ·  CLI  ·  Library call</a:t>
            </a:r>
            <a:endParaRPr lang="en-US" sz="1300" dirty="0"/>
          </a:p>
        </p:txBody>
      </p:sp>
      <p:sp>
        <p:nvSpPr>
          <p:cNvPr id="9" name="arrow_40"/>
          <p:cNvSpPr/>
          <p:nvPr/>
        </p:nvSpPr>
        <p:spPr>
          <a:xfrm>
            <a:off x="3566160" y="2011680"/>
            <a:ext cx="411480" cy="914"/>
          </a:xfrm>
          <a:prstGeom prst="line">
            <a:avLst/>
          </a:prstGeom>
          <a:noFill/>
          <a:ln w="25400">
            <a:solidFill>
              <a:srgbClr val="14B8A6"/>
            </a:solidFill>
            <a:prstDash val="solid"/>
            <a:tailEnd type="triangle"/>
          </a:ln>
        </p:spPr>
      </p:sp>
      <p:sp>
        <p:nvSpPr>
          <p:cNvPr id="10" name="card_41"/>
          <p:cNvSpPr/>
          <p:nvPr/>
        </p:nvSpPr>
        <p:spPr>
          <a:xfrm>
            <a:off x="4069080" y="1097280"/>
            <a:ext cx="4617720" cy="1828800"/>
          </a:xfrm>
          <a:prstGeom prst="roundRect">
            <a:avLst>
              <a:gd name="adj" fmla="val 4000"/>
            </a:avLst>
          </a:prstGeom>
          <a:solidFill>
            <a:srgbClr val="13213A"/>
          </a:solidFill>
          <a:ln w="12700">
            <a:solidFill>
              <a:srgbClr val="13213A"/>
            </a:solidFill>
            <a:prstDash val="solid"/>
          </a:ln>
        </p:spPr>
      </p:sp>
      <p:sp>
        <p:nvSpPr>
          <p:cNvPr id="11" name="text_42"/>
          <p:cNvSpPr txBox="1"/>
          <p:nvPr/>
        </p:nvSpPr>
        <p:spPr>
          <a:xfrm>
            <a:off x="4251960" y="1188720"/>
            <a:ext cx="1828800" cy="228600"/>
          </a:xfrm>
          <a:prstGeom prst="rect">
            <a:avLst/>
          </a:prstGeom>
          <a:noFill/>
          <a:ln/>
        </p:spPr>
        <p:txBody>
          <a:bodyPr wrap="square" lIns="0" tIns="0" rIns="0" bIns="0" rtlCol="0" anchor="t"/>
          <a:lstStyle/>
          <a:p>
            <a:pPr indent="0" marL="0">
              <a:buNone/>
            </a:pPr>
            <a:r>
              <a:rPr lang="en-US" sz="1100" b="1" spc="200" kern="0" dirty="0">
                <a:solidFill>
                  <a:srgbClr val="14B8A6"/>
                </a:solidFill>
                <a:latin typeface="Calibri" pitchFamily="34" charset="0"/>
                <a:ea typeface="Calibri" pitchFamily="34" charset="-122"/>
                <a:cs typeface="Calibri" pitchFamily="34" charset="-120"/>
              </a:rPr>
              <a:t>OUTPUT</a:t>
            </a:r>
            <a:endParaRPr lang="en-US" sz="1100" dirty="0"/>
          </a:p>
        </p:txBody>
      </p:sp>
      <p:sp>
        <p:nvSpPr>
          <p:cNvPr id="12" name="text_43"/>
          <p:cNvSpPr txBox="1"/>
          <p:nvPr/>
        </p:nvSpPr>
        <p:spPr>
          <a:xfrm>
            <a:off x="4251960" y="1463040"/>
            <a:ext cx="4343400" cy="1371600"/>
          </a:xfrm>
          <a:prstGeom prst="rect">
            <a:avLst/>
          </a:prstGeom>
          <a:noFill/>
          <a:ln/>
        </p:spPr>
        <p:txBody>
          <a:bodyPr wrap="square" lIns="0" tIns="0" rIns="0" bIns="0" rtlCol="0" anchor="t"/>
          <a:lstStyle/>
          <a:p>
            <a:pPr indent="0" marL="0">
              <a:buNone/>
            </a:pPr>
            <a:r>
              <a:rPr lang="en-US" sz="1200" dirty="0">
                <a:solidFill>
                  <a:srgbClr val="E8EEF6"/>
                </a:solidFill>
                <a:latin typeface="Courier New" pitchFamily="34" charset="0"/>
                <a:ea typeface="Courier New" pitchFamily="34" charset="-122"/>
                <a:cs typeface="Courier New" pitchFamily="34" charset="-120"/>
              </a:rPr>
              <a:t>{ "verdict": "allow | block",</a:t>
            </a:r>
            <a:endParaRPr lang="en-US" sz="1200" dirty="0"/>
          </a:p>
          <a:p>
            <a:pPr indent="0" marL="0">
              <a:buNone/>
            </a:pPr>
            <a:r>
              <a:rPr lang="en-US" sz="1200" dirty="0">
                <a:solidFill>
                  <a:srgbClr val="E8EEF6"/>
                </a:solidFill>
                <a:latin typeface="Courier New" pitchFamily="34" charset="0"/>
                <a:ea typeface="Courier New" pitchFamily="34" charset="-122"/>
                <a:cs typeface="Courier New" pitchFamily="34" charset="-120"/>
              </a:rPr>
              <a:t>  "risk_score": 0–1,</a:t>
            </a:r>
            <a:endParaRPr lang="en-US" sz="1200" dirty="0"/>
          </a:p>
          <a:p>
            <a:pPr indent="0" marL="0">
              <a:buNone/>
            </a:pPr>
            <a:r>
              <a:rPr lang="en-US" sz="1200" dirty="0">
                <a:solidFill>
                  <a:srgbClr val="E8EEF6"/>
                </a:solidFill>
                <a:latin typeface="Courier New" pitchFamily="34" charset="0"/>
                <a:ea typeface="Courier New" pitchFamily="34" charset="-122"/>
                <a:cs typeface="Courier New" pitchFamily="34" charset="-120"/>
              </a:rPr>
              <a:t>  "categories": [...],</a:t>
            </a:r>
            <a:endParaRPr lang="en-US" sz="1200" dirty="0"/>
          </a:p>
          <a:p>
            <a:pPr indent="0" marL="0">
              <a:buNone/>
            </a:pPr>
            <a:r>
              <a:rPr lang="en-US" sz="1200" dirty="0">
                <a:solidFill>
                  <a:srgbClr val="E8EEF6"/>
                </a:solidFill>
                <a:latin typeface="Courier New" pitchFamily="34" charset="0"/>
                <a:ea typeface="Courier New" pitchFamily="34" charset="-122"/>
                <a:cs typeface="Courier New" pitchFamily="34" charset="-120"/>
              </a:rPr>
              <a:t>  "code_language": "...",</a:t>
            </a:r>
            <a:endParaRPr lang="en-US" sz="1200" dirty="0"/>
          </a:p>
          <a:p>
            <a:pPr indent="0" marL="0">
              <a:buNone/>
            </a:pPr>
            <a:r>
              <a:rPr lang="en-US" sz="1200" dirty="0">
                <a:solidFill>
                  <a:srgbClr val="E8EEF6"/>
                </a:solidFill>
                <a:latin typeface="Courier New" pitchFamily="34" charset="0"/>
                <a:ea typeface="Courier New" pitchFamily="34" charset="-122"/>
                <a:cs typeface="Courier New" pitchFamily="34" charset="-120"/>
              </a:rPr>
              <a:t>  "reason": "plain English",</a:t>
            </a:r>
            <a:endParaRPr lang="en-US" sz="1200" dirty="0"/>
          </a:p>
          <a:p>
            <a:pPr indent="0" marL="0">
              <a:buNone/>
            </a:pPr>
            <a:r>
              <a:rPr lang="en-US" sz="1200" dirty="0">
                <a:solidFill>
                  <a:srgbClr val="E8EEF6"/>
                </a:solidFill>
                <a:latin typeface="Courier New" pitchFamily="34" charset="0"/>
                <a:ea typeface="Courier New" pitchFamily="34" charset="-122"/>
                <a:cs typeface="Courier New" pitchFamily="34" charset="-120"/>
              </a:rPr>
              <a:t>  "vulnerable_lines": [...] }</a:t>
            </a:r>
            <a:endParaRPr lang="en-US" sz="1200" dirty="0"/>
          </a:p>
        </p:txBody>
      </p:sp>
      <p:sp>
        <p:nvSpPr>
          <p:cNvPr id="13" name="text_44"/>
          <p:cNvSpPr txBox="1"/>
          <p:nvPr/>
        </p:nvSpPr>
        <p:spPr>
          <a:xfrm>
            <a:off x="457200" y="3108960"/>
            <a:ext cx="3657600" cy="228600"/>
          </a:xfrm>
          <a:prstGeom prst="rect">
            <a:avLst/>
          </a:prstGeom>
          <a:noFill/>
          <a:ln/>
        </p:spPr>
        <p:txBody>
          <a:bodyPr wrap="square" lIns="0" tIns="0" rIns="0" bIns="0" rtlCol="0" anchor="t"/>
          <a:lstStyle/>
          <a:p>
            <a:pPr indent="0" marL="0">
              <a:buNone/>
            </a:pPr>
            <a:r>
              <a:rPr lang="en-US" sz="1100" b="1" spc="200" kern="0" dirty="0">
                <a:solidFill>
                  <a:srgbClr val="93A4BD"/>
                </a:solidFill>
                <a:latin typeface="Calibri" pitchFamily="34" charset="0"/>
                <a:ea typeface="Calibri" pitchFamily="34" charset="-122"/>
                <a:cs typeface="Calibri" pitchFamily="34" charset="-120"/>
              </a:rPr>
              <a:t>NINE RISK CATEGORIES</a:t>
            </a:r>
            <a:endParaRPr lang="en-US" sz="1100" dirty="0"/>
          </a:p>
        </p:txBody>
      </p:sp>
      <p:sp>
        <p:nvSpPr>
          <p:cNvPr id="14" name="catchip_45"/>
          <p:cNvSpPr/>
          <p:nvPr/>
        </p:nvSpPr>
        <p:spPr>
          <a:xfrm>
            <a:off x="457200" y="3401568"/>
            <a:ext cx="2651760" cy="310896"/>
          </a:xfrm>
          <a:prstGeom prst="roundRect">
            <a:avLst>
              <a:gd name="adj" fmla="val 50000"/>
            </a:avLst>
          </a:prstGeom>
          <a:solidFill>
            <a:srgbClr val="1B2D4F"/>
          </a:solidFill>
          <a:ln w="12700">
            <a:solidFill>
              <a:srgbClr val="1B2D4F"/>
            </a:solidFill>
            <a:prstDash val="solid"/>
          </a:ln>
        </p:spPr>
      </p:sp>
      <p:sp>
        <p:nvSpPr>
          <p:cNvPr id="15" name="text_46"/>
          <p:cNvSpPr txBox="1"/>
          <p:nvPr/>
        </p:nvSpPr>
        <p:spPr>
          <a:xfrm>
            <a:off x="457200" y="3401568"/>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secret_access</a:t>
            </a:r>
            <a:endParaRPr lang="en-US" sz="1200" dirty="0"/>
          </a:p>
        </p:txBody>
      </p:sp>
      <p:sp>
        <p:nvSpPr>
          <p:cNvPr id="16" name="catchip_47"/>
          <p:cNvSpPr/>
          <p:nvPr/>
        </p:nvSpPr>
        <p:spPr>
          <a:xfrm>
            <a:off x="3246120" y="3401568"/>
            <a:ext cx="2651760" cy="310896"/>
          </a:xfrm>
          <a:prstGeom prst="roundRect">
            <a:avLst>
              <a:gd name="adj" fmla="val 50000"/>
            </a:avLst>
          </a:prstGeom>
          <a:solidFill>
            <a:srgbClr val="1B2D4F"/>
          </a:solidFill>
          <a:ln w="12700">
            <a:solidFill>
              <a:srgbClr val="1B2D4F"/>
            </a:solidFill>
            <a:prstDash val="solid"/>
          </a:ln>
        </p:spPr>
      </p:sp>
      <p:sp>
        <p:nvSpPr>
          <p:cNvPr id="17" name="text_48"/>
          <p:cNvSpPr txBox="1"/>
          <p:nvPr/>
        </p:nvSpPr>
        <p:spPr>
          <a:xfrm>
            <a:off x="3246120" y="3401568"/>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data_exfiltration</a:t>
            </a:r>
            <a:endParaRPr lang="en-US" sz="1200" dirty="0"/>
          </a:p>
        </p:txBody>
      </p:sp>
      <p:sp>
        <p:nvSpPr>
          <p:cNvPr id="18" name="catchip_49"/>
          <p:cNvSpPr/>
          <p:nvPr/>
        </p:nvSpPr>
        <p:spPr>
          <a:xfrm>
            <a:off x="6035040" y="3401568"/>
            <a:ext cx="2651760" cy="310896"/>
          </a:xfrm>
          <a:prstGeom prst="roundRect">
            <a:avLst>
              <a:gd name="adj" fmla="val 50000"/>
            </a:avLst>
          </a:prstGeom>
          <a:solidFill>
            <a:srgbClr val="1B2D4F"/>
          </a:solidFill>
          <a:ln w="12700">
            <a:solidFill>
              <a:srgbClr val="1B2D4F"/>
            </a:solidFill>
            <a:prstDash val="solid"/>
          </a:ln>
        </p:spPr>
      </p:sp>
      <p:sp>
        <p:nvSpPr>
          <p:cNvPr id="19" name="text_50"/>
          <p:cNvSpPr txBox="1"/>
          <p:nvPr/>
        </p:nvSpPr>
        <p:spPr>
          <a:xfrm>
            <a:off x="6035040" y="3401568"/>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destructive_command</a:t>
            </a:r>
            <a:endParaRPr lang="en-US" sz="1200" dirty="0"/>
          </a:p>
        </p:txBody>
      </p:sp>
      <p:sp>
        <p:nvSpPr>
          <p:cNvPr id="20" name="catchip_51"/>
          <p:cNvSpPr/>
          <p:nvPr/>
        </p:nvSpPr>
        <p:spPr>
          <a:xfrm>
            <a:off x="457200" y="3794760"/>
            <a:ext cx="2651760" cy="310896"/>
          </a:xfrm>
          <a:prstGeom prst="roundRect">
            <a:avLst>
              <a:gd name="adj" fmla="val 50000"/>
            </a:avLst>
          </a:prstGeom>
          <a:solidFill>
            <a:srgbClr val="1B2D4F"/>
          </a:solidFill>
          <a:ln w="12700">
            <a:solidFill>
              <a:srgbClr val="1B2D4F"/>
            </a:solidFill>
            <a:prstDash val="solid"/>
          </a:ln>
        </p:spPr>
      </p:sp>
      <p:sp>
        <p:nvSpPr>
          <p:cNvPr id="21" name="text_52"/>
          <p:cNvSpPr txBox="1"/>
          <p:nvPr/>
        </p:nvSpPr>
        <p:spPr>
          <a:xfrm>
            <a:off x="457200" y="3794760"/>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persistence_or_privesc</a:t>
            </a:r>
            <a:endParaRPr lang="en-US" sz="1200" dirty="0"/>
          </a:p>
        </p:txBody>
      </p:sp>
      <p:sp>
        <p:nvSpPr>
          <p:cNvPr id="22" name="catchip_53"/>
          <p:cNvSpPr/>
          <p:nvPr/>
        </p:nvSpPr>
        <p:spPr>
          <a:xfrm>
            <a:off x="3246120" y="3794760"/>
            <a:ext cx="2651760" cy="310896"/>
          </a:xfrm>
          <a:prstGeom prst="roundRect">
            <a:avLst>
              <a:gd name="adj" fmla="val 50000"/>
            </a:avLst>
          </a:prstGeom>
          <a:solidFill>
            <a:srgbClr val="1B2D4F"/>
          </a:solidFill>
          <a:ln w="12700">
            <a:solidFill>
              <a:srgbClr val="1B2D4F"/>
            </a:solidFill>
            <a:prstDash val="solid"/>
          </a:ln>
        </p:spPr>
      </p:sp>
      <p:sp>
        <p:nvSpPr>
          <p:cNvPr id="23" name="text_54"/>
          <p:cNvSpPr txBox="1"/>
          <p:nvPr/>
        </p:nvSpPr>
        <p:spPr>
          <a:xfrm>
            <a:off x="3246120" y="3794760"/>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obfuscated_execution</a:t>
            </a:r>
            <a:endParaRPr lang="en-US" sz="1200" dirty="0"/>
          </a:p>
        </p:txBody>
      </p:sp>
      <p:sp>
        <p:nvSpPr>
          <p:cNvPr id="24" name="catchip_55"/>
          <p:cNvSpPr/>
          <p:nvPr/>
        </p:nvSpPr>
        <p:spPr>
          <a:xfrm>
            <a:off x="6035040" y="3794760"/>
            <a:ext cx="2651760" cy="310896"/>
          </a:xfrm>
          <a:prstGeom prst="roundRect">
            <a:avLst>
              <a:gd name="adj" fmla="val 50000"/>
            </a:avLst>
          </a:prstGeom>
          <a:solidFill>
            <a:srgbClr val="1B2D4F"/>
          </a:solidFill>
          <a:ln w="12700">
            <a:solidFill>
              <a:srgbClr val="1B2D4F"/>
            </a:solidFill>
            <a:prstDash val="solid"/>
          </a:ln>
        </p:spPr>
      </p:sp>
      <p:sp>
        <p:nvSpPr>
          <p:cNvPr id="25" name="text_56"/>
          <p:cNvSpPr txBox="1"/>
          <p:nvPr/>
        </p:nvSpPr>
        <p:spPr>
          <a:xfrm>
            <a:off x="6035040" y="3794760"/>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dependency_risk</a:t>
            </a:r>
            <a:endParaRPr lang="en-US" sz="1200" dirty="0"/>
          </a:p>
        </p:txBody>
      </p:sp>
      <p:sp>
        <p:nvSpPr>
          <p:cNvPr id="26" name="catchip_57"/>
          <p:cNvSpPr/>
          <p:nvPr/>
        </p:nvSpPr>
        <p:spPr>
          <a:xfrm>
            <a:off x="457200" y="4187952"/>
            <a:ext cx="2651760" cy="310896"/>
          </a:xfrm>
          <a:prstGeom prst="roundRect">
            <a:avLst>
              <a:gd name="adj" fmla="val 50000"/>
            </a:avLst>
          </a:prstGeom>
          <a:solidFill>
            <a:srgbClr val="1B2D4F"/>
          </a:solidFill>
          <a:ln w="12700">
            <a:solidFill>
              <a:srgbClr val="1B2D4F"/>
            </a:solidFill>
            <a:prstDash val="solid"/>
          </a:ln>
        </p:spPr>
      </p:sp>
      <p:sp>
        <p:nvSpPr>
          <p:cNvPr id="27" name="text_58"/>
          <p:cNvSpPr txBox="1"/>
          <p:nvPr/>
        </p:nvSpPr>
        <p:spPr>
          <a:xfrm>
            <a:off x="457200" y="4187952"/>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resource_exhaustion</a:t>
            </a:r>
            <a:endParaRPr lang="en-US" sz="1200" dirty="0"/>
          </a:p>
        </p:txBody>
      </p:sp>
      <p:sp>
        <p:nvSpPr>
          <p:cNvPr id="28" name="catchip_59"/>
          <p:cNvSpPr/>
          <p:nvPr/>
        </p:nvSpPr>
        <p:spPr>
          <a:xfrm>
            <a:off x="3246120" y="4187952"/>
            <a:ext cx="2651760" cy="310896"/>
          </a:xfrm>
          <a:prstGeom prst="roundRect">
            <a:avLst>
              <a:gd name="adj" fmla="val 50000"/>
            </a:avLst>
          </a:prstGeom>
          <a:solidFill>
            <a:srgbClr val="1B2D4F"/>
          </a:solidFill>
          <a:ln w="12700">
            <a:solidFill>
              <a:srgbClr val="1B2D4F"/>
            </a:solidFill>
            <a:prstDash val="solid"/>
          </a:ln>
        </p:spPr>
      </p:sp>
      <p:sp>
        <p:nvSpPr>
          <p:cNvPr id="29" name="text_60"/>
          <p:cNvSpPr txBox="1"/>
          <p:nvPr/>
        </p:nvSpPr>
        <p:spPr>
          <a:xfrm>
            <a:off x="3246120" y="4187952"/>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ssrf_network_exfil</a:t>
            </a:r>
            <a:endParaRPr lang="en-US" sz="1200" dirty="0"/>
          </a:p>
        </p:txBody>
      </p:sp>
      <p:sp>
        <p:nvSpPr>
          <p:cNvPr id="30" name="catchip_61"/>
          <p:cNvSpPr/>
          <p:nvPr/>
        </p:nvSpPr>
        <p:spPr>
          <a:xfrm>
            <a:off x="6035040" y="4187952"/>
            <a:ext cx="2651760" cy="310896"/>
          </a:xfrm>
          <a:prstGeom prst="roundRect">
            <a:avLst>
              <a:gd name="adj" fmla="val 50000"/>
            </a:avLst>
          </a:prstGeom>
          <a:solidFill>
            <a:srgbClr val="1B2D4F"/>
          </a:solidFill>
          <a:ln w="12700">
            <a:solidFill>
              <a:srgbClr val="1B2D4F"/>
            </a:solidFill>
            <a:prstDash val="solid"/>
          </a:ln>
        </p:spPr>
      </p:sp>
      <p:sp>
        <p:nvSpPr>
          <p:cNvPr id="31" name="text_62"/>
          <p:cNvSpPr txBox="1"/>
          <p:nvPr/>
        </p:nvSpPr>
        <p:spPr>
          <a:xfrm>
            <a:off x="6035040" y="4187952"/>
            <a:ext cx="2651760" cy="310896"/>
          </a:xfrm>
          <a:prstGeom prst="rect">
            <a:avLst/>
          </a:prstGeom>
          <a:noFill/>
          <a:ln/>
        </p:spPr>
        <p:txBody>
          <a:bodyPr wrap="square" lIns="0" tIns="0" rIns="0" bIns="0" rtlCol="0" anchor="ctr"/>
          <a:lstStyle/>
          <a:p>
            <a:pPr algn="ctr" indent="0" marL="0">
              <a:buNone/>
            </a:pPr>
            <a:r>
              <a:rPr lang="en-US" sz="1200" dirty="0">
                <a:solidFill>
                  <a:srgbClr val="5EEAD4"/>
                </a:solidFill>
                <a:latin typeface="Courier New" pitchFamily="34" charset="0"/>
                <a:ea typeface="Courier New" pitchFamily="34" charset="-122"/>
                <a:cs typeface="Courier New" pitchFamily="34" charset="-120"/>
              </a:rPr>
              <a:t>ai_targeted_instructions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Read and interpret the code, never run it</a:t>
            </a:r>
            <a:endParaRPr lang="en-US" sz="2800" dirty="0"/>
          </a:p>
        </p:txBody>
      </p:sp>
      <p:sp>
        <p:nvSpPr>
          <p:cNvPr id="3" name="card_63"/>
          <p:cNvSpPr/>
          <p:nvPr/>
        </p:nvSpPr>
        <p:spPr>
          <a:xfrm>
            <a:off x="457200" y="1188720"/>
            <a:ext cx="987552" cy="1097280"/>
          </a:xfrm>
          <a:prstGeom prst="roundRect">
            <a:avLst>
              <a:gd name="adj" fmla="val 7407"/>
            </a:avLst>
          </a:prstGeom>
          <a:solidFill>
            <a:srgbClr val="13213A"/>
          </a:solidFill>
          <a:ln w="12700">
            <a:solidFill>
              <a:srgbClr val="13213A"/>
            </a:solidFill>
            <a:prstDash val="solid"/>
          </a:ln>
        </p:spPr>
      </p:sp>
      <p:sp>
        <p:nvSpPr>
          <p:cNvPr id="4" name="text_64"/>
          <p:cNvSpPr txBox="1"/>
          <p:nvPr/>
        </p:nvSpPr>
        <p:spPr>
          <a:xfrm>
            <a:off x="512064"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Code</a:t>
            </a:r>
            <a:endParaRPr lang="en-US" sz="1300" dirty="0"/>
          </a:p>
        </p:txBody>
      </p:sp>
      <p:sp>
        <p:nvSpPr>
          <p:cNvPr id="5" name="arrow_65"/>
          <p:cNvSpPr/>
          <p:nvPr/>
        </p:nvSpPr>
        <p:spPr>
          <a:xfrm>
            <a:off x="1472184" y="1737360"/>
            <a:ext cx="160020" cy="914"/>
          </a:xfrm>
          <a:prstGeom prst="line">
            <a:avLst/>
          </a:prstGeom>
          <a:noFill/>
          <a:ln w="25400">
            <a:solidFill>
              <a:srgbClr val="14B8A6"/>
            </a:solidFill>
            <a:prstDash val="solid"/>
            <a:tailEnd type="triangle"/>
          </a:ln>
        </p:spPr>
      </p:sp>
      <p:sp>
        <p:nvSpPr>
          <p:cNvPr id="6" name="card_66"/>
          <p:cNvSpPr/>
          <p:nvPr/>
        </p:nvSpPr>
        <p:spPr>
          <a:xfrm>
            <a:off x="1659636" y="1188720"/>
            <a:ext cx="987552" cy="1097280"/>
          </a:xfrm>
          <a:prstGeom prst="roundRect">
            <a:avLst>
              <a:gd name="adj" fmla="val 7407"/>
            </a:avLst>
          </a:prstGeom>
          <a:solidFill>
            <a:srgbClr val="13213A"/>
          </a:solidFill>
          <a:ln w="12700">
            <a:solidFill>
              <a:srgbClr val="13213A"/>
            </a:solidFill>
            <a:prstDash val="solid"/>
          </a:ln>
        </p:spPr>
      </p:sp>
      <p:sp>
        <p:nvSpPr>
          <p:cNvPr id="7" name="text_67"/>
          <p:cNvSpPr txBox="1"/>
          <p:nvPr/>
        </p:nvSpPr>
        <p:spPr>
          <a:xfrm>
            <a:off x="1714500"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Sanitise + language ID</a:t>
            </a:r>
            <a:endParaRPr lang="en-US" sz="1300" dirty="0"/>
          </a:p>
        </p:txBody>
      </p:sp>
      <p:sp>
        <p:nvSpPr>
          <p:cNvPr id="8" name="arrow_68"/>
          <p:cNvSpPr/>
          <p:nvPr/>
        </p:nvSpPr>
        <p:spPr>
          <a:xfrm>
            <a:off x="2674620" y="1737360"/>
            <a:ext cx="160020" cy="914"/>
          </a:xfrm>
          <a:prstGeom prst="line">
            <a:avLst/>
          </a:prstGeom>
          <a:noFill/>
          <a:ln w="25400">
            <a:solidFill>
              <a:srgbClr val="14B8A6"/>
            </a:solidFill>
            <a:prstDash val="solid"/>
            <a:tailEnd type="triangle"/>
          </a:ln>
        </p:spPr>
      </p:sp>
      <p:sp>
        <p:nvSpPr>
          <p:cNvPr id="9" name="card_69"/>
          <p:cNvSpPr/>
          <p:nvPr/>
        </p:nvSpPr>
        <p:spPr>
          <a:xfrm>
            <a:off x="2862072" y="1188720"/>
            <a:ext cx="987552" cy="1097280"/>
          </a:xfrm>
          <a:prstGeom prst="roundRect">
            <a:avLst>
              <a:gd name="adj" fmla="val 7407"/>
            </a:avLst>
          </a:prstGeom>
          <a:solidFill>
            <a:srgbClr val="13213A"/>
          </a:solidFill>
          <a:ln w="25400">
            <a:solidFill>
              <a:srgbClr val="14B8A6"/>
            </a:solidFill>
            <a:prstDash val="solid"/>
          </a:ln>
        </p:spPr>
      </p:sp>
      <p:sp>
        <p:nvSpPr>
          <p:cNvPr id="10" name="text_70"/>
          <p:cNvSpPr txBox="1"/>
          <p:nvPr/>
        </p:nvSpPr>
        <p:spPr>
          <a:xfrm>
            <a:off x="2916936"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Front-end analysers</a:t>
            </a:r>
            <a:endParaRPr lang="en-US" sz="1300" dirty="0"/>
          </a:p>
        </p:txBody>
      </p:sp>
      <p:sp>
        <p:nvSpPr>
          <p:cNvPr id="11" name="arrow_71"/>
          <p:cNvSpPr/>
          <p:nvPr/>
        </p:nvSpPr>
        <p:spPr>
          <a:xfrm>
            <a:off x="3877056" y="1737360"/>
            <a:ext cx="160020" cy="914"/>
          </a:xfrm>
          <a:prstGeom prst="line">
            <a:avLst/>
          </a:prstGeom>
          <a:noFill/>
          <a:ln w="25400">
            <a:solidFill>
              <a:srgbClr val="14B8A6"/>
            </a:solidFill>
            <a:prstDash val="solid"/>
            <a:tailEnd type="triangle"/>
          </a:ln>
        </p:spPr>
      </p:sp>
      <p:sp>
        <p:nvSpPr>
          <p:cNvPr id="12" name="card_72"/>
          <p:cNvSpPr/>
          <p:nvPr/>
        </p:nvSpPr>
        <p:spPr>
          <a:xfrm>
            <a:off x="4064508" y="1188720"/>
            <a:ext cx="987552" cy="1097280"/>
          </a:xfrm>
          <a:prstGeom prst="roundRect">
            <a:avLst>
              <a:gd name="adj" fmla="val 7407"/>
            </a:avLst>
          </a:prstGeom>
          <a:solidFill>
            <a:srgbClr val="13213A"/>
          </a:solidFill>
          <a:ln w="12700">
            <a:solidFill>
              <a:srgbClr val="13213A"/>
            </a:solidFill>
            <a:prstDash val="solid"/>
          </a:ln>
        </p:spPr>
      </p:sp>
      <p:sp>
        <p:nvSpPr>
          <p:cNvPr id="13" name="text_73"/>
          <p:cNvSpPr txBox="1"/>
          <p:nvPr/>
        </p:nvSpPr>
        <p:spPr>
          <a:xfrm>
            <a:off x="4119372"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Behaviour events</a:t>
            </a:r>
            <a:endParaRPr lang="en-US" sz="1300" dirty="0"/>
          </a:p>
        </p:txBody>
      </p:sp>
      <p:sp>
        <p:nvSpPr>
          <p:cNvPr id="14" name="arrow_74"/>
          <p:cNvSpPr/>
          <p:nvPr/>
        </p:nvSpPr>
        <p:spPr>
          <a:xfrm>
            <a:off x="5079492" y="1737360"/>
            <a:ext cx="160020" cy="914"/>
          </a:xfrm>
          <a:prstGeom prst="line">
            <a:avLst/>
          </a:prstGeom>
          <a:noFill/>
          <a:ln w="25400">
            <a:solidFill>
              <a:srgbClr val="14B8A6"/>
            </a:solidFill>
            <a:prstDash val="solid"/>
            <a:tailEnd type="triangle"/>
          </a:ln>
        </p:spPr>
      </p:sp>
      <p:sp>
        <p:nvSpPr>
          <p:cNvPr id="15" name="card_75"/>
          <p:cNvSpPr/>
          <p:nvPr/>
        </p:nvSpPr>
        <p:spPr>
          <a:xfrm>
            <a:off x="5266944" y="1188720"/>
            <a:ext cx="987552" cy="1097280"/>
          </a:xfrm>
          <a:prstGeom prst="roundRect">
            <a:avLst>
              <a:gd name="adj" fmla="val 7407"/>
            </a:avLst>
          </a:prstGeom>
          <a:solidFill>
            <a:srgbClr val="13213A"/>
          </a:solidFill>
          <a:ln w="12700">
            <a:solidFill>
              <a:srgbClr val="13213A"/>
            </a:solidFill>
            <a:prstDash val="solid"/>
          </a:ln>
        </p:spPr>
      </p:sp>
      <p:sp>
        <p:nvSpPr>
          <p:cNvPr id="16" name="text_76"/>
          <p:cNvSpPr txBox="1"/>
          <p:nvPr/>
        </p:nvSpPr>
        <p:spPr>
          <a:xfrm>
            <a:off x="5321808"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187 YAML rules</a:t>
            </a:r>
            <a:endParaRPr lang="en-US" sz="1300" dirty="0"/>
          </a:p>
        </p:txBody>
      </p:sp>
      <p:sp>
        <p:nvSpPr>
          <p:cNvPr id="17" name="arrow_77"/>
          <p:cNvSpPr/>
          <p:nvPr/>
        </p:nvSpPr>
        <p:spPr>
          <a:xfrm>
            <a:off x="6281928" y="1737360"/>
            <a:ext cx="160020" cy="914"/>
          </a:xfrm>
          <a:prstGeom prst="line">
            <a:avLst/>
          </a:prstGeom>
          <a:noFill/>
          <a:ln w="25400">
            <a:solidFill>
              <a:srgbClr val="14B8A6"/>
            </a:solidFill>
            <a:prstDash val="solid"/>
            <a:tailEnd type="triangle"/>
          </a:ln>
        </p:spPr>
      </p:sp>
      <p:sp>
        <p:nvSpPr>
          <p:cNvPr id="18" name="card_78"/>
          <p:cNvSpPr/>
          <p:nvPr/>
        </p:nvSpPr>
        <p:spPr>
          <a:xfrm>
            <a:off x="6469380" y="1188720"/>
            <a:ext cx="987552" cy="1097280"/>
          </a:xfrm>
          <a:prstGeom prst="roundRect">
            <a:avLst>
              <a:gd name="adj" fmla="val 7407"/>
            </a:avLst>
          </a:prstGeom>
          <a:solidFill>
            <a:srgbClr val="13213A"/>
          </a:solidFill>
          <a:ln w="12700">
            <a:solidFill>
              <a:srgbClr val="13213A"/>
            </a:solidFill>
            <a:prstDash val="solid"/>
          </a:ln>
        </p:spPr>
      </p:sp>
      <p:sp>
        <p:nvSpPr>
          <p:cNvPr id="19" name="text_79"/>
          <p:cNvSpPr txBox="1"/>
          <p:nvPr/>
        </p:nvSpPr>
        <p:spPr>
          <a:xfrm>
            <a:off x="6524244" y="1188720"/>
            <a:ext cx="877824" cy="1097280"/>
          </a:xfrm>
          <a:prstGeom prst="rect">
            <a:avLst/>
          </a:prstGeom>
          <a:noFill/>
          <a:ln/>
        </p:spPr>
        <p:txBody>
          <a:bodyPr wrap="square" lIns="0" tIns="0" rIns="0" bIns="0" rtlCol="0" anchor="ctr"/>
          <a:lstStyle/>
          <a:p>
            <a:pPr algn="ctr" indent="0" marL="0">
              <a:buNone/>
            </a:pPr>
            <a:r>
              <a:rPr lang="en-US" sz="1300" b="1" dirty="0">
                <a:solidFill>
                  <a:srgbClr val="E8EEF6"/>
                </a:solidFill>
                <a:latin typeface="Calibri" pitchFamily="34" charset="0"/>
                <a:ea typeface="Calibri" pitchFamily="34" charset="-122"/>
                <a:cs typeface="Calibri" pitchFamily="34" charset="-120"/>
              </a:rPr>
              <a:t>Fusion (noisy-OR)</a:t>
            </a:r>
            <a:endParaRPr lang="en-US" sz="1300" dirty="0"/>
          </a:p>
        </p:txBody>
      </p:sp>
      <p:sp>
        <p:nvSpPr>
          <p:cNvPr id="20" name="arrow_80"/>
          <p:cNvSpPr/>
          <p:nvPr/>
        </p:nvSpPr>
        <p:spPr>
          <a:xfrm>
            <a:off x="7484364" y="1737360"/>
            <a:ext cx="160020" cy="914"/>
          </a:xfrm>
          <a:prstGeom prst="line">
            <a:avLst/>
          </a:prstGeom>
          <a:noFill/>
          <a:ln w="25400">
            <a:solidFill>
              <a:srgbClr val="14B8A6"/>
            </a:solidFill>
            <a:prstDash val="solid"/>
            <a:tailEnd type="triangle"/>
          </a:ln>
        </p:spPr>
      </p:sp>
      <p:sp>
        <p:nvSpPr>
          <p:cNvPr id="21" name="card_81"/>
          <p:cNvSpPr/>
          <p:nvPr/>
        </p:nvSpPr>
        <p:spPr>
          <a:xfrm>
            <a:off x="7671816" y="1188720"/>
            <a:ext cx="987552" cy="1097280"/>
          </a:xfrm>
          <a:prstGeom prst="roundRect">
            <a:avLst>
              <a:gd name="adj" fmla="val 7407"/>
            </a:avLst>
          </a:prstGeom>
          <a:solidFill>
            <a:srgbClr val="14B8A6"/>
          </a:solidFill>
          <a:ln w="12700">
            <a:solidFill>
              <a:srgbClr val="14B8A6"/>
            </a:solidFill>
            <a:prstDash val="solid"/>
          </a:ln>
        </p:spPr>
      </p:sp>
      <p:sp>
        <p:nvSpPr>
          <p:cNvPr id="22" name="text_82"/>
          <p:cNvSpPr txBox="1"/>
          <p:nvPr/>
        </p:nvSpPr>
        <p:spPr>
          <a:xfrm>
            <a:off x="7726680" y="1188720"/>
            <a:ext cx="877824" cy="1097280"/>
          </a:xfrm>
          <a:prstGeom prst="rect">
            <a:avLst/>
          </a:prstGeom>
          <a:noFill/>
          <a:ln/>
        </p:spPr>
        <p:txBody>
          <a:bodyPr wrap="square" lIns="0" tIns="0" rIns="0" bIns="0" rtlCol="0" anchor="ctr"/>
          <a:lstStyle/>
          <a:p>
            <a:pPr algn="ctr" indent="0" marL="0">
              <a:buNone/>
            </a:pPr>
            <a:r>
              <a:rPr lang="en-US" sz="1300" b="1" dirty="0">
                <a:solidFill>
                  <a:srgbClr val="0B1426"/>
                </a:solidFill>
                <a:latin typeface="Calibri" pitchFamily="34" charset="0"/>
                <a:ea typeface="Calibri" pitchFamily="34" charset="-122"/>
                <a:cs typeface="Calibri" pitchFamily="34" charset="-120"/>
              </a:rPr>
              <a:t>Verdict + reason + lines</a:t>
            </a:r>
            <a:endParaRPr lang="en-US" sz="1300" dirty="0"/>
          </a:p>
        </p:txBody>
      </p:sp>
      <p:sp>
        <p:nvSpPr>
          <p:cNvPr id="23" name="fe_link"/>
          <p:cNvSpPr/>
          <p:nvPr/>
        </p:nvSpPr>
        <p:spPr>
          <a:xfrm>
            <a:off x="3355848" y="2286000"/>
            <a:ext cx="914" cy="274320"/>
          </a:xfrm>
          <a:prstGeom prst="line">
            <a:avLst/>
          </a:prstGeom>
          <a:noFill/>
          <a:ln w="19050">
            <a:solidFill>
              <a:srgbClr val="14B8A6"/>
            </a:solidFill>
            <a:prstDash val="dash"/>
          </a:ln>
        </p:spPr>
      </p:sp>
      <p:sp>
        <p:nvSpPr>
          <p:cNvPr id="24" name="card_83"/>
          <p:cNvSpPr/>
          <p:nvPr/>
        </p:nvSpPr>
        <p:spPr>
          <a:xfrm>
            <a:off x="457200" y="2560320"/>
            <a:ext cx="4663440" cy="1783080"/>
          </a:xfrm>
          <a:prstGeom prst="roundRect">
            <a:avLst>
              <a:gd name="adj" fmla="val 4103"/>
            </a:avLst>
          </a:prstGeom>
          <a:solidFill>
            <a:srgbClr val="13213A"/>
          </a:solidFill>
          <a:ln w="12700">
            <a:solidFill>
              <a:srgbClr val="14B8A6"/>
            </a:solidFill>
            <a:prstDash val="solid"/>
          </a:ln>
        </p:spPr>
      </p:sp>
      <p:sp>
        <p:nvSpPr>
          <p:cNvPr id="25" name="text_84"/>
          <p:cNvSpPr txBox="1"/>
          <p:nvPr/>
        </p:nvSpPr>
        <p:spPr>
          <a:xfrm>
            <a:off x="640080" y="2670048"/>
            <a:ext cx="3657600" cy="228600"/>
          </a:xfrm>
          <a:prstGeom prst="rect">
            <a:avLst/>
          </a:prstGeom>
          <a:noFill/>
          <a:ln/>
        </p:spPr>
        <p:txBody>
          <a:bodyPr wrap="square" lIns="0" tIns="0" rIns="0" bIns="0" rtlCol="0" anchor="t"/>
          <a:lstStyle/>
          <a:p>
            <a:pPr indent="0" marL="0">
              <a:buNone/>
            </a:pPr>
            <a:r>
              <a:rPr lang="en-US" sz="1100" b="1" spc="200" kern="0" dirty="0">
                <a:solidFill>
                  <a:srgbClr val="14B8A6"/>
                </a:solidFill>
                <a:latin typeface="Calibri" pitchFamily="34" charset="0"/>
                <a:ea typeface="Calibri" pitchFamily="34" charset="-122"/>
                <a:cs typeface="Calibri" pitchFamily="34" charset="-120"/>
              </a:rPr>
              <a:t>FRONT-END ANALYSERS</a:t>
            </a:r>
            <a:endParaRPr lang="en-US" sz="1100" dirty="0"/>
          </a:p>
        </p:txBody>
      </p:sp>
      <p:sp>
        <p:nvSpPr>
          <p:cNvPr id="26" name="text_85"/>
          <p:cNvSpPr txBox="1"/>
          <p:nvPr/>
        </p:nvSpPr>
        <p:spPr>
          <a:xfrm>
            <a:off x="640080" y="2999232"/>
            <a:ext cx="4389120" cy="36576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Abstract interpreter:  </a:t>
            </a:r>
            <a:pPr indent="0" marL="0">
              <a:buNone/>
            </a:pPr>
            <a:r>
              <a:rPr lang="en-US" sz="1400" dirty="0">
                <a:solidFill>
                  <a:srgbClr val="93A4BD"/>
                </a:solidFill>
                <a:latin typeface="Calibri" pitchFamily="34" charset="0"/>
                <a:ea typeface="Calibri" pitchFamily="34" charset="-122"/>
                <a:cs typeface="Calibri" pitchFamily="34" charset="-120"/>
              </a:rPr>
              <a:t>Python, JavaScript</a:t>
            </a:r>
            <a:endParaRPr lang="en-US" sz="1400" dirty="0"/>
          </a:p>
        </p:txBody>
      </p:sp>
      <p:sp>
        <p:nvSpPr>
          <p:cNvPr id="27" name="text_86"/>
          <p:cNvSpPr txBox="1"/>
          <p:nvPr/>
        </p:nvSpPr>
        <p:spPr>
          <a:xfrm>
            <a:off x="640080" y="3429000"/>
            <a:ext cx="4389120" cy="36576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Dedicated analysers:  </a:t>
            </a:r>
            <a:pPr indent="0" marL="0">
              <a:buNone/>
            </a:pPr>
            <a:r>
              <a:rPr lang="en-US" sz="1400" dirty="0">
                <a:solidFill>
                  <a:srgbClr val="93A4BD"/>
                </a:solidFill>
                <a:latin typeface="Calibri" pitchFamily="34" charset="0"/>
                <a:ea typeface="Calibri" pitchFamily="34" charset="-122"/>
                <a:cs typeface="Calibri" pitchFamily="34" charset="-120"/>
              </a:rPr>
              <a:t>bash, SQL, YAML, Markdown</a:t>
            </a:r>
            <a:endParaRPr lang="en-US" sz="1400" dirty="0"/>
          </a:p>
        </p:txBody>
      </p:sp>
      <p:sp>
        <p:nvSpPr>
          <p:cNvPr id="28" name="text_87"/>
          <p:cNvSpPr txBox="1"/>
          <p:nvPr/>
        </p:nvSpPr>
        <p:spPr>
          <a:xfrm>
            <a:off x="640080" y="3858768"/>
            <a:ext cx="4389120" cy="36576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Generic analyser:  </a:t>
            </a:r>
            <a:pPr indent="0" marL="0">
              <a:buNone/>
            </a:pPr>
            <a:r>
              <a:rPr lang="en-US" sz="1400" dirty="0">
                <a:solidFill>
                  <a:srgbClr val="93A4BD"/>
                </a:solidFill>
                <a:latin typeface="Calibri" pitchFamily="34" charset="0"/>
                <a:ea typeface="Calibri" pitchFamily="34" charset="-122"/>
                <a:cs typeface="Calibri" pitchFamily="34" charset="-120"/>
              </a:rPr>
              <a:t>PHP, Go, Ruby, PowerShell, Dockerfile, etc.</a:t>
            </a:r>
            <a:endParaRPr lang="en-US" sz="1400" dirty="0"/>
          </a:p>
        </p:txBody>
      </p:sp>
      <p:sp>
        <p:nvSpPr>
          <p:cNvPr id="29" name="card_88"/>
          <p:cNvSpPr/>
          <p:nvPr/>
        </p:nvSpPr>
        <p:spPr>
          <a:xfrm>
            <a:off x="5349240" y="2560320"/>
            <a:ext cx="3337560" cy="1783080"/>
          </a:xfrm>
          <a:prstGeom prst="roundRect">
            <a:avLst>
              <a:gd name="adj" fmla="val 4103"/>
            </a:avLst>
          </a:prstGeom>
          <a:solidFill>
            <a:srgbClr val="1B2D4F"/>
          </a:solidFill>
          <a:ln w="12700">
            <a:solidFill>
              <a:srgbClr val="1B2D4F"/>
            </a:solidFill>
            <a:prstDash val="solid"/>
          </a:ln>
        </p:spPr>
      </p:sp>
      <p:sp>
        <p:nvSpPr>
          <p:cNvPr id="30" name="iconbg_89"/>
          <p:cNvSpPr/>
          <p:nvPr/>
        </p:nvSpPr>
        <p:spPr>
          <a:xfrm>
            <a:off x="5532120" y="2743200"/>
            <a:ext cx="548640" cy="548640"/>
          </a:xfrm>
          <a:prstGeom prst="ellipse">
            <a:avLst/>
          </a:prstGeom>
          <a:solidFill>
            <a:srgbClr val="14B8A6"/>
          </a:solidFill>
          <a:ln w="12700">
            <a:solidFill>
              <a:srgbClr val="14B8A6"/>
            </a:solidFill>
            <a:prstDash val="solid"/>
          </a:ln>
        </p:spPr>
      </p:sp>
      <p:pic>
        <p:nvPicPr>
          <p:cNvPr id="31" name="icon_90" descr="eyeslash">    </p:cNvPr>
          <p:cNvPicPr>
            <a:picLocks noChangeAspect="1"/>
          </p:cNvPicPr>
          <p:nvPr/>
        </p:nvPicPr>
        <p:blipFill>
          <a:blip r:embed="rId1"/>
          <a:stretch>
            <a:fillRect/>
          </a:stretch>
        </p:blipFill>
        <p:spPr>
          <a:xfrm>
            <a:off x="5669280" y="2880360"/>
            <a:ext cx="274320" cy="274320"/>
          </a:xfrm>
          <a:prstGeom prst="rect">
            <a:avLst/>
          </a:prstGeom>
        </p:spPr>
      </p:pic>
      <p:sp>
        <p:nvSpPr>
          <p:cNvPr id="32" name="text_91"/>
          <p:cNvSpPr txBox="1"/>
          <p:nvPr/>
        </p:nvSpPr>
        <p:spPr>
          <a:xfrm>
            <a:off x="6217920" y="2788920"/>
            <a:ext cx="2377440" cy="457200"/>
          </a:xfrm>
          <a:prstGeom prst="rect">
            <a:avLst/>
          </a:prstGeom>
          <a:noFill/>
          <a:ln/>
        </p:spPr>
        <p:txBody>
          <a:bodyPr wrap="square" lIns="0" tIns="0" rIns="0" bIns="0" rtlCol="0" anchor="ctr"/>
          <a:lstStyle/>
          <a:p>
            <a:pPr indent="0" marL="0">
              <a:buNone/>
            </a:pPr>
            <a:r>
              <a:rPr lang="en-US" sz="1700" b="1" dirty="0">
                <a:solidFill>
                  <a:srgbClr val="5EEAD4"/>
                </a:solidFill>
                <a:latin typeface="Calibri" pitchFamily="34" charset="0"/>
                <a:ea typeface="Calibri" pitchFamily="34" charset="-122"/>
                <a:cs typeface="Calibri" pitchFamily="34" charset="-120"/>
              </a:rPr>
              <a:t>Never executed</a:t>
            </a:r>
            <a:endParaRPr lang="en-US" sz="1700" dirty="0"/>
          </a:p>
        </p:txBody>
      </p:sp>
      <p:sp>
        <p:nvSpPr>
          <p:cNvPr id="33" name="text_92"/>
          <p:cNvSpPr txBox="1"/>
          <p:nvPr/>
        </p:nvSpPr>
        <p:spPr>
          <a:xfrm>
            <a:off x="5532120" y="3429000"/>
            <a:ext cx="3017520" cy="82296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The code under test is read and interpreted against an abstract model. It never runs.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It follows the data, not the keywords</a:t>
            </a:r>
            <a:endParaRPr lang="en-US" sz="2800" dirty="0"/>
          </a:p>
        </p:txBody>
      </p:sp>
      <p:pic>
        <p:nvPicPr>
          <p:cNvPr id="3" name="mechicon_93" descr="Values carry labels">    </p:cNvPr>
          <p:cNvPicPr>
            <a:picLocks noChangeAspect="1"/>
          </p:cNvPicPr>
          <p:nvPr/>
        </p:nvPicPr>
        <p:blipFill>
          <a:blip r:embed="rId1"/>
          <a:stretch>
            <a:fillRect/>
          </a:stretch>
        </p:blipFill>
        <p:spPr>
          <a:xfrm>
            <a:off x="457200" y="1143000"/>
            <a:ext cx="292608" cy="292608"/>
          </a:xfrm>
          <a:prstGeom prst="rect">
            <a:avLst/>
          </a:prstGeom>
        </p:spPr>
      </p:pic>
      <p:sp>
        <p:nvSpPr>
          <p:cNvPr id="4" name="text_94"/>
          <p:cNvSpPr txBox="1"/>
          <p:nvPr/>
        </p:nvSpPr>
        <p:spPr>
          <a:xfrm>
            <a:off x="914400" y="1097280"/>
            <a:ext cx="3611880" cy="27432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Values carry labels</a:t>
            </a:r>
            <a:endParaRPr lang="en-US" sz="1500" dirty="0"/>
          </a:p>
        </p:txBody>
      </p:sp>
      <p:sp>
        <p:nvSpPr>
          <p:cNvPr id="5" name="text_95"/>
          <p:cNvSpPr txBox="1"/>
          <p:nvPr/>
        </p:nvSpPr>
        <p:spPr>
          <a:xfrm>
            <a:off x="914400" y="1371600"/>
            <a:ext cx="361188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user input, environment, secret, file, decoded…</a:t>
            </a:r>
            <a:endParaRPr lang="en-US" sz="1200" dirty="0"/>
          </a:p>
        </p:txBody>
      </p:sp>
      <p:pic>
        <p:nvPicPr>
          <p:cNvPr id="6" name="mechicon_96" descr="Rules ask “what flows where”">    </p:cNvPr>
          <p:cNvPicPr>
            <a:picLocks noChangeAspect="1"/>
          </p:cNvPicPr>
          <p:nvPr/>
        </p:nvPicPr>
        <p:blipFill>
          <a:blip r:embed="rId2"/>
          <a:stretch>
            <a:fillRect/>
          </a:stretch>
        </p:blipFill>
        <p:spPr>
          <a:xfrm>
            <a:off x="457200" y="1828800"/>
            <a:ext cx="292608" cy="292608"/>
          </a:xfrm>
          <a:prstGeom prst="rect">
            <a:avLst/>
          </a:prstGeom>
        </p:spPr>
      </p:pic>
      <p:sp>
        <p:nvSpPr>
          <p:cNvPr id="7" name="text_97"/>
          <p:cNvSpPr txBox="1"/>
          <p:nvPr/>
        </p:nvSpPr>
        <p:spPr>
          <a:xfrm>
            <a:off x="914400" y="1783080"/>
            <a:ext cx="3611880" cy="27432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Rules ask “what flows where”</a:t>
            </a:r>
            <a:endParaRPr lang="en-US" sz="1500" dirty="0"/>
          </a:p>
        </p:txBody>
      </p:sp>
      <p:sp>
        <p:nvSpPr>
          <p:cNvPr id="8" name="text_98"/>
          <p:cNvSpPr txBox="1"/>
          <p:nvPr/>
        </p:nvSpPr>
        <p:spPr>
          <a:xfrm>
            <a:off x="914400" y="2057400"/>
            <a:ext cx="361188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a source label reaching a dangerous sink</a:t>
            </a:r>
            <a:endParaRPr lang="en-US" sz="1200" dirty="0"/>
          </a:p>
        </p:txBody>
      </p:sp>
      <p:pic>
        <p:nvPicPr>
          <p:cNvPr id="9" name="mechicon_99" descr="Tricks are resolved">    </p:cNvPr>
          <p:cNvPicPr>
            <a:picLocks noChangeAspect="1"/>
          </p:cNvPicPr>
          <p:nvPr/>
        </p:nvPicPr>
        <p:blipFill>
          <a:blip r:embed="rId3"/>
          <a:stretch>
            <a:fillRect/>
          </a:stretch>
        </p:blipFill>
        <p:spPr>
          <a:xfrm>
            <a:off x="457200" y="2514600"/>
            <a:ext cx="292608" cy="292608"/>
          </a:xfrm>
          <a:prstGeom prst="rect">
            <a:avLst/>
          </a:prstGeom>
        </p:spPr>
      </p:pic>
      <p:sp>
        <p:nvSpPr>
          <p:cNvPr id="10" name="text_100"/>
          <p:cNvSpPr txBox="1"/>
          <p:nvPr/>
        </p:nvSpPr>
        <p:spPr>
          <a:xfrm>
            <a:off x="914400" y="2468880"/>
            <a:ext cx="3611880" cy="27432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Tricks are resolved</a:t>
            </a:r>
            <a:endParaRPr lang="en-US" sz="1500" dirty="0"/>
          </a:p>
        </p:txBody>
      </p:sp>
      <p:sp>
        <p:nvSpPr>
          <p:cNvPr id="11" name="text_101"/>
          <p:cNvSpPr txBox="1"/>
          <p:nvPr/>
        </p:nvSpPr>
        <p:spPr>
          <a:xfrm>
            <a:off x="914400" y="2743200"/>
            <a:ext cx="361188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string building, base64/hex/zlib, aliases, helpers</a:t>
            </a:r>
            <a:endParaRPr lang="en-US" sz="1200" dirty="0"/>
          </a:p>
        </p:txBody>
      </p:sp>
      <p:pic>
        <p:nvPicPr>
          <p:cNvPr id="12" name="mechicon_102" descr="Injection is proven">    </p:cNvPr>
          <p:cNvPicPr>
            <a:picLocks noChangeAspect="1"/>
          </p:cNvPicPr>
          <p:nvPr/>
        </p:nvPicPr>
        <p:blipFill>
          <a:blip r:embed="rId4"/>
          <a:stretch>
            <a:fillRect/>
          </a:stretch>
        </p:blipFill>
        <p:spPr>
          <a:xfrm>
            <a:off x="457200" y="3200400"/>
            <a:ext cx="292608" cy="292608"/>
          </a:xfrm>
          <a:prstGeom prst="rect">
            <a:avLst/>
          </a:prstGeom>
        </p:spPr>
      </p:pic>
      <p:sp>
        <p:nvSpPr>
          <p:cNvPr id="13" name="text_103"/>
          <p:cNvSpPr txBox="1"/>
          <p:nvPr/>
        </p:nvSpPr>
        <p:spPr>
          <a:xfrm>
            <a:off x="914400" y="3154680"/>
            <a:ext cx="3611880" cy="27432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Injection is proven</a:t>
            </a:r>
            <a:endParaRPr lang="en-US" sz="1500" dirty="0"/>
          </a:p>
        </p:txBody>
      </p:sp>
      <p:sp>
        <p:nvSpPr>
          <p:cNvPr id="14" name="text_104"/>
          <p:cNvSpPr txBox="1"/>
          <p:nvPr/>
        </p:nvSpPr>
        <p:spPr>
          <a:xfrm>
            <a:off x="914400" y="3429000"/>
            <a:ext cx="361188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counterfactual probing finds a witness</a:t>
            </a:r>
            <a:endParaRPr lang="en-US" sz="1200" dirty="0"/>
          </a:p>
        </p:txBody>
      </p:sp>
      <p:pic>
        <p:nvPicPr>
          <p:cNvPr id="15" name="mechicon_105" descr="Safety proofs keep benign code allowed">    </p:cNvPr>
          <p:cNvPicPr>
            <a:picLocks noChangeAspect="1"/>
          </p:cNvPicPr>
          <p:nvPr/>
        </p:nvPicPr>
        <p:blipFill>
          <a:blip r:embed="rId5"/>
          <a:stretch>
            <a:fillRect/>
          </a:stretch>
        </p:blipFill>
        <p:spPr>
          <a:xfrm>
            <a:off x="457200" y="3886200"/>
            <a:ext cx="292608" cy="292608"/>
          </a:xfrm>
          <a:prstGeom prst="rect">
            <a:avLst/>
          </a:prstGeom>
        </p:spPr>
      </p:pic>
      <p:sp>
        <p:nvSpPr>
          <p:cNvPr id="16" name="text_106"/>
          <p:cNvSpPr txBox="1"/>
          <p:nvPr/>
        </p:nvSpPr>
        <p:spPr>
          <a:xfrm>
            <a:off x="914400" y="3840480"/>
            <a:ext cx="3611880" cy="27432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Safety proofs keep benign code allowed</a:t>
            </a:r>
            <a:endParaRPr lang="en-US" sz="1500" dirty="0"/>
          </a:p>
        </p:txBody>
      </p:sp>
      <p:sp>
        <p:nvSpPr>
          <p:cNvPr id="17" name="text_107"/>
          <p:cNvSpPr txBox="1"/>
          <p:nvPr/>
        </p:nvSpPr>
        <p:spPr>
          <a:xfrm>
            <a:off x="914400" y="4114800"/>
            <a:ext cx="361188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parameterised SQL, guarded deletes, bounded loops, safe loaders, allow-lists</a:t>
            </a:r>
            <a:endParaRPr lang="en-US" sz="1200" dirty="0"/>
          </a:p>
        </p:txBody>
      </p:sp>
      <p:sp>
        <p:nvSpPr>
          <p:cNvPr id="18" name="text_108"/>
          <p:cNvSpPr txBox="1"/>
          <p:nvPr/>
        </p:nvSpPr>
        <p:spPr>
          <a:xfrm>
            <a:off x="4754880" y="1097280"/>
            <a:ext cx="3931920" cy="228600"/>
          </a:xfrm>
          <a:prstGeom prst="rect">
            <a:avLst/>
          </a:prstGeom>
          <a:noFill/>
          <a:ln/>
        </p:spPr>
        <p:txBody>
          <a:bodyPr wrap="square" lIns="0" tIns="0" rIns="0" bIns="0" rtlCol="0" anchor="t"/>
          <a:lstStyle/>
          <a:p>
            <a:pPr indent="0" marL="0">
              <a:buNone/>
            </a:pPr>
            <a:r>
              <a:rPr lang="en-US" sz="1100" b="1" spc="200" kern="0" dirty="0">
                <a:solidFill>
                  <a:srgbClr val="93A4BD"/>
                </a:solidFill>
                <a:latin typeface="Calibri" pitchFamily="34" charset="0"/>
                <a:ea typeface="Calibri" pitchFamily="34" charset="-122"/>
                <a:cs typeface="Calibri" pitchFamily="34" charset="-120"/>
              </a:rPr>
              <a:t>SAME NAMES, DIFFERENT DATA FLOW</a:t>
            </a:r>
            <a:endParaRPr lang="en-US" sz="1100" dirty="0"/>
          </a:p>
        </p:txBody>
      </p:sp>
      <p:sp>
        <p:nvSpPr>
          <p:cNvPr id="19" name="card_109"/>
          <p:cNvSpPr/>
          <p:nvPr/>
        </p:nvSpPr>
        <p:spPr>
          <a:xfrm>
            <a:off x="4754880" y="1417320"/>
            <a:ext cx="3931920" cy="1463040"/>
          </a:xfrm>
          <a:prstGeom prst="roundRect">
            <a:avLst>
              <a:gd name="adj" fmla="val 5000"/>
            </a:avLst>
          </a:prstGeom>
          <a:solidFill>
            <a:srgbClr val="070D1A"/>
          </a:solidFill>
          <a:ln w="15875">
            <a:solidFill>
              <a:srgbClr val="14B8A6"/>
            </a:solidFill>
            <a:prstDash val="solid"/>
          </a:ln>
        </p:spPr>
      </p:sp>
      <p:sp>
        <p:nvSpPr>
          <p:cNvPr id="20" name="badge_110"/>
          <p:cNvSpPr/>
          <p:nvPr/>
        </p:nvSpPr>
        <p:spPr>
          <a:xfrm>
            <a:off x="4892040" y="1554480"/>
            <a:ext cx="777240" cy="274320"/>
          </a:xfrm>
          <a:prstGeom prst="roundRect">
            <a:avLst>
              <a:gd name="adj" fmla="val 50000"/>
            </a:avLst>
          </a:prstGeom>
          <a:solidFill>
            <a:srgbClr val="14B8A6"/>
          </a:solidFill>
          <a:ln w="12700">
            <a:solidFill>
              <a:srgbClr val="14B8A6"/>
            </a:solidFill>
            <a:prstDash val="solid"/>
          </a:ln>
        </p:spPr>
      </p:sp>
      <p:sp>
        <p:nvSpPr>
          <p:cNvPr id="21" name="text_111"/>
          <p:cNvSpPr txBox="1"/>
          <p:nvPr/>
        </p:nvSpPr>
        <p:spPr>
          <a:xfrm>
            <a:off x="4892040" y="1554480"/>
            <a:ext cx="77724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ALLOW</a:t>
            </a:r>
            <a:endParaRPr lang="en-US" sz="1100" dirty="0"/>
          </a:p>
        </p:txBody>
      </p:sp>
      <p:sp>
        <p:nvSpPr>
          <p:cNvPr id="22" name="text_112"/>
          <p:cNvSpPr txBox="1"/>
          <p:nvPr/>
        </p:nvSpPr>
        <p:spPr>
          <a:xfrm>
            <a:off x="5806440" y="1554480"/>
            <a:ext cx="2788920" cy="274320"/>
          </a:xfrm>
          <a:prstGeom prst="rect">
            <a:avLst/>
          </a:prstGeom>
          <a:noFill/>
          <a:ln/>
        </p:spPr>
        <p:txBody>
          <a:bodyPr wrap="square" lIns="0" tIns="0" rIns="0" bIns="0" rtlCol="0" anchor="ctr"/>
          <a:lstStyle/>
          <a:p>
            <a:pPr indent="0" marL="0">
              <a:buNone/>
            </a:pPr>
            <a:r>
              <a:rPr lang="en-US" sz="1200" dirty="0">
                <a:solidFill>
                  <a:srgbClr val="5EEAD4"/>
                </a:solidFill>
                <a:latin typeface="Calibri" pitchFamily="34" charset="0"/>
                <a:ea typeface="Calibri" pitchFamily="34" charset="-122"/>
                <a:cs typeface="Calibri" pitchFamily="34" charset="-120"/>
              </a:rPr>
              <a:t>value is bound as a parameter</a:t>
            </a:r>
            <a:endParaRPr lang="en-US" sz="1200" dirty="0"/>
          </a:p>
        </p:txBody>
      </p:sp>
      <p:sp>
        <p:nvSpPr>
          <p:cNvPr id="23" name="text_113"/>
          <p:cNvSpPr txBox="1"/>
          <p:nvPr/>
        </p:nvSpPr>
        <p:spPr>
          <a:xfrm>
            <a:off x="4892040" y="1965960"/>
            <a:ext cx="3749040" cy="822960"/>
          </a:xfrm>
          <a:prstGeom prst="rect">
            <a:avLst/>
          </a:prstGeom>
          <a:noFill/>
          <a:ln/>
        </p:spPr>
        <p:txBody>
          <a:bodyPr wrap="square" lIns="0" tIns="0" rIns="0" bIns="0" rtlCol="0" anchor="t"/>
          <a:lstStyle/>
          <a:p>
            <a:pPr indent="0" marL="0">
              <a:buNone/>
            </a:pPr>
            <a:r>
              <a:rPr lang="en-US" sz="1100" dirty="0">
                <a:solidFill>
                  <a:srgbClr val="E8EEF6"/>
                </a:solidFill>
                <a:latin typeface="Courier New" pitchFamily="34" charset="0"/>
                <a:ea typeface="Courier New" pitchFamily="34" charset="-122"/>
                <a:cs typeface="Courier New" pitchFamily="34" charset="-120"/>
              </a:rPr>
              <a:t>def lookup(db, uid):</a:t>
            </a:r>
            <a:endParaRPr lang="en-US" sz="1100" dirty="0"/>
          </a:p>
          <a:p>
            <a:pPr indent="0" marL="0">
              <a:buNone/>
            </a:pPr>
            <a:r>
              <a:rPr lang="en-US" sz="1100" dirty="0">
                <a:solidFill>
                  <a:srgbClr val="E8EEF6"/>
                </a:solidFill>
                <a:latin typeface="Courier New" pitchFamily="34" charset="0"/>
                <a:ea typeface="Courier New" pitchFamily="34" charset="-122"/>
                <a:cs typeface="Courier New" pitchFamily="34" charset="-120"/>
              </a:rPr>
              <a:t>    q = "SELECT * FROM t WHERE id = ?"</a:t>
            </a:r>
            <a:endParaRPr lang="en-US" sz="1100" dirty="0"/>
          </a:p>
          <a:p>
            <a:pPr indent="0" marL="0">
              <a:buNone/>
            </a:pPr>
            <a:r>
              <a:rPr lang="en-US" sz="1100" dirty="0">
                <a:solidFill>
                  <a:srgbClr val="E8EEF6"/>
                </a:solidFill>
                <a:latin typeface="Courier New" pitchFamily="34" charset="0"/>
                <a:ea typeface="Courier New" pitchFamily="34" charset="-122"/>
                <a:cs typeface="Courier New" pitchFamily="34" charset="-120"/>
              </a:rPr>
              <a:t>    return db.execute(q, (uid,))</a:t>
            </a:r>
            <a:endParaRPr lang="en-US" sz="1100" dirty="0"/>
          </a:p>
        </p:txBody>
      </p:sp>
      <p:sp>
        <p:nvSpPr>
          <p:cNvPr id="24" name="card_114"/>
          <p:cNvSpPr/>
          <p:nvPr/>
        </p:nvSpPr>
        <p:spPr>
          <a:xfrm>
            <a:off x="4754880" y="3017520"/>
            <a:ext cx="3931920" cy="1463040"/>
          </a:xfrm>
          <a:prstGeom prst="roundRect">
            <a:avLst>
              <a:gd name="adj" fmla="val 5000"/>
            </a:avLst>
          </a:prstGeom>
          <a:solidFill>
            <a:srgbClr val="070D1A"/>
          </a:solidFill>
          <a:ln w="15875">
            <a:solidFill>
              <a:srgbClr val="F0616D"/>
            </a:solidFill>
            <a:prstDash val="solid"/>
          </a:ln>
        </p:spPr>
      </p:sp>
      <p:sp>
        <p:nvSpPr>
          <p:cNvPr id="25" name="badge_115"/>
          <p:cNvSpPr/>
          <p:nvPr/>
        </p:nvSpPr>
        <p:spPr>
          <a:xfrm>
            <a:off x="4892040" y="3154680"/>
            <a:ext cx="777240" cy="274320"/>
          </a:xfrm>
          <a:prstGeom prst="roundRect">
            <a:avLst>
              <a:gd name="adj" fmla="val 50000"/>
            </a:avLst>
          </a:prstGeom>
          <a:solidFill>
            <a:srgbClr val="F0616D"/>
          </a:solidFill>
          <a:ln w="12700">
            <a:solidFill>
              <a:srgbClr val="F0616D"/>
            </a:solidFill>
            <a:prstDash val="solid"/>
          </a:ln>
        </p:spPr>
      </p:sp>
      <p:sp>
        <p:nvSpPr>
          <p:cNvPr id="26" name="text_116"/>
          <p:cNvSpPr txBox="1"/>
          <p:nvPr/>
        </p:nvSpPr>
        <p:spPr>
          <a:xfrm>
            <a:off x="4892040" y="3154680"/>
            <a:ext cx="77724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BLOCK</a:t>
            </a:r>
            <a:endParaRPr lang="en-US" sz="1100" dirty="0"/>
          </a:p>
        </p:txBody>
      </p:sp>
      <p:sp>
        <p:nvSpPr>
          <p:cNvPr id="27" name="text_117"/>
          <p:cNvSpPr txBox="1"/>
          <p:nvPr/>
        </p:nvSpPr>
        <p:spPr>
          <a:xfrm>
            <a:off x="5806440" y="3154680"/>
            <a:ext cx="2788920" cy="274320"/>
          </a:xfrm>
          <a:prstGeom prst="rect">
            <a:avLst/>
          </a:prstGeom>
          <a:noFill/>
          <a:ln/>
        </p:spPr>
        <p:txBody>
          <a:bodyPr wrap="square" lIns="0" tIns="0" rIns="0" bIns="0" rtlCol="0" anchor="ctr"/>
          <a:lstStyle/>
          <a:p>
            <a:pPr indent="0" marL="0">
              <a:buNone/>
            </a:pPr>
            <a:r>
              <a:rPr lang="en-US" sz="1200" dirty="0">
                <a:solidFill>
                  <a:srgbClr val="F0616D"/>
                </a:solidFill>
                <a:latin typeface="Calibri" pitchFamily="34" charset="0"/>
                <a:ea typeface="Calibri" pitchFamily="34" charset="-122"/>
                <a:cs typeface="Calibri" pitchFamily="34" charset="-120"/>
              </a:rPr>
              <a:t>input flows into the query text</a:t>
            </a:r>
            <a:endParaRPr lang="en-US" sz="1200" dirty="0"/>
          </a:p>
        </p:txBody>
      </p:sp>
      <p:sp>
        <p:nvSpPr>
          <p:cNvPr id="28" name="text_118"/>
          <p:cNvSpPr txBox="1"/>
          <p:nvPr/>
        </p:nvSpPr>
        <p:spPr>
          <a:xfrm>
            <a:off x="4892040" y="3566160"/>
            <a:ext cx="3749040" cy="822960"/>
          </a:xfrm>
          <a:prstGeom prst="rect">
            <a:avLst/>
          </a:prstGeom>
          <a:noFill/>
          <a:ln/>
        </p:spPr>
        <p:txBody>
          <a:bodyPr wrap="square" lIns="0" tIns="0" rIns="0" bIns="0" rtlCol="0" anchor="t"/>
          <a:lstStyle/>
          <a:p>
            <a:pPr indent="0" marL="0">
              <a:buNone/>
            </a:pPr>
            <a:r>
              <a:rPr lang="en-US" sz="1100" dirty="0">
                <a:solidFill>
                  <a:srgbClr val="E8EEF6"/>
                </a:solidFill>
                <a:latin typeface="Courier New" pitchFamily="34" charset="0"/>
                <a:ea typeface="Courier New" pitchFamily="34" charset="-122"/>
                <a:cs typeface="Courier New" pitchFamily="34" charset="-120"/>
              </a:rPr>
              <a:t>def lookup(db, uid):</a:t>
            </a:r>
            <a:endParaRPr lang="en-US" sz="1100" dirty="0"/>
          </a:p>
          <a:p>
            <a:pPr indent="0" marL="0">
              <a:buNone/>
            </a:pPr>
            <a:r>
              <a:rPr lang="en-US" sz="1100" dirty="0">
                <a:solidFill>
                  <a:srgbClr val="E8EEF6"/>
                </a:solidFill>
                <a:latin typeface="Courier New" pitchFamily="34" charset="0"/>
                <a:ea typeface="Courier New" pitchFamily="34" charset="-122"/>
                <a:cs typeface="Courier New" pitchFamily="34" charset="-120"/>
              </a:rPr>
              <a:t>    q = f"SELECT * FROM t WHERE id='{uid}'"</a:t>
            </a:r>
            <a:endParaRPr lang="en-US" sz="1100" dirty="0"/>
          </a:p>
          <a:p>
            <a:pPr indent="0" marL="0">
              <a:buNone/>
            </a:pPr>
            <a:r>
              <a:rPr lang="en-US" sz="1100" dirty="0">
                <a:solidFill>
                  <a:srgbClr val="E8EEF6"/>
                </a:solidFill>
                <a:latin typeface="Courier New" pitchFamily="34" charset="0"/>
                <a:ea typeface="Courier New" pitchFamily="34" charset="-122"/>
                <a:cs typeface="Courier New" pitchFamily="34" charset="-120"/>
              </a:rPr>
              <a:t>    return db.execute(q)</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Nine categories, each backed by concrete signals</a:t>
            </a:r>
            <a:endParaRPr lang="en-US" sz="2800" dirty="0"/>
          </a:p>
        </p:txBody>
      </p:sp>
      <p:graphicFrame>
        <p:nvGraphicFramePr>
          <p:cNvPr id="7" name="coverage_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31720"/>
                <a:gridCol w="5897880"/>
              </a:tblGrid>
              <a:tr h="338328">
                <a:tc>
                  <a:txBody>
                    <a:bodyPr/>
                    <a:lstStyle/>
                    <a:p>
                      <a:pPr indent="0" marL="0">
                        <a:buNone/>
                      </a:pPr>
                      <a:r>
                        <a:rPr lang="en-US" sz="1200" b="1" dirty="0">
                          <a:solidFill>
                            <a:srgbClr val="0B1426"/>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4B8A6"/>
                    </a:solidFill>
                  </a:tcPr>
                </a:tc>
                <a:tc>
                  <a:txBody>
                    <a:bodyPr/>
                    <a:lstStyle/>
                    <a:p>
                      <a:pPr indent="0" marL="0">
                        <a:buNone/>
                      </a:pPr>
                      <a:r>
                        <a:rPr lang="en-US" sz="1200" b="1" dirty="0">
                          <a:solidFill>
                            <a:srgbClr val="0B1426"/>
                          </a:solidFill>
                          <a:latin typeface="Calibri" pitchFamily="34" charset="0"/>
                          <a:ea typeface="Calibri" pitchFamily="34" charset="-122"/>
                          <a:cs typeface="Calibri" pitchFamily="34" charset="-120"/>
                        </a:rPr>
                        <a:t>Main signals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4B8A6"/>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secret_access</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Credential files · ~220 provider key formats · high-entropy strings (incl. inside URLs) · secret env vars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data_exfiltration</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Secret/file/env data to outside hosts · DNS/ICMP channels · webhooks · SELECT injection</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destructive_command</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Broad recursive deletes · tainted shell/eval · DROP / TRUNCATE / unscoped UPDATE</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persistence_or_privesc</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cron · systemd · shell rc · sudoers · setuid · registry Run keys · bind shells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obfuscated_execution</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Decode-then-run · dynamic imports · aliased modules · unsafe deserialisation</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dependency_risk</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Typosquats vs. the 15,000 most-downloaded PyPI names · untrusted VCS installs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resource_exhaustion</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Fork bombs · unbounded loops with spawn · loop-multiplied writes and sockets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ssrf_network_exfil</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Metadata service · loopback/private hosts · gopher/file schemes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38328">
                <a:tc>
                  <a:txBody>
                    <a:bodyPr/>
                    <a:lstStyle/>
                    <a:p>
                      <a:pPr indent="0" marL="0">
                        <a:buNone/>
                      </a:pPr>
                      <a:r>
                        <a:rPr lang="en-US" sz="1100" dirty="0">
                          <a:solidFill>
                            <a:srgbClr val="5EEAD4"/>
                          </a:solidFill>
                          <a:latin typeface="Courier New" pitchFamily="34" charset="0"/>
                          <a:ea typeface="Courier New" pitchFamily="34" charset="-122"/>
                          <a:cs typeface="Courier New" pitchFamily="34" charset="-120"/>
                        </a:rPr>
                        <a:t>ai_targeted_instructions</a:t>
                      </a:r>
                      <a:endParaRPr lang="en-US" sz="1100" dirty="0">
                        <a:latin typeface="Courier New" charset="0"/>
                        <a:ea typeface="Courier New" charset="0"/>
                        <a:cs typeface="Courier New"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Comments, docstrings, Markdown aimed at a reviewer or model · pattern scorer + small text classifier</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Small models, shipped only where they validated</a:t>
            </a:r>
            <a:endParaRPr lang="en-US" sz="2800" dirty="0"/>
          </a:p>
        </p:txBody>
      </p:sp>
      <p:sp>
        <p:nvSpPr>
          <p:cNvPr id="3" name="card_119"/>
          <p:cNvSpPr/>
          <p:nvPr/>
        </p:nvSpPr>
        <p:spPr>
          <a:xfrm>
            <a:off x="457200" y="1097280"/>
            <a:ext cx="2606040" cy="2880360"/>
          </a:xfrm>
          <a:prstGeom prst="roundRect">
            <a:avLst>
              <a:gd name="adj" fmla="val 2807"/>
            </a:avLst>
          </a:prstGeom>
          <a:solidFill>
            <a:srgbClr val="13213A"/>
          </a:solidFill>
          <a:ln w="12700">
            <a:solidFill>
              <a:srgbClr val="13213A"/>
            </a:solidFill>
            <a:prstDash val="solid"/>
          </a:ln>
        </p:spPr>
      </p:sp>
      <p:sp>
        <p:nvSpPr>
          <p:cNvPr id="4" name="badge_120"/>
          <p:cNvSpPr/>
          <p:nvPr/>
        </p:nvSpPr>
        <p:spPr>
          <a:xfrm>
            <a:off x="640080" y="1280160"/>
            <a:ext cx="914400" cy="274320"/>
          </a:xfrm>
          <a:prstGeom prst="roundRect">
            <a:avLst>
              <a:gd name="adj" fmla="val 50000"/>
            </a:avLst>
          </a:prstGeom>
          <a:solidFill>
            <a:srgbClr val="14B8A6"/>
          </a:solidFill>
          <a:ln w="12700">
            <a:solidFill>
              <a:srgbClr val="14B8A6"/>
            </a:solidFill>
            <a:prstDash val="solid"/>
          </a:ln>
        </p:spPr>
      </p:sp>
      <p:sp>
        <p:nvSpPr>
          <p:cNvPr id="5" name="text_121"/>
          <p:cNvSpPr txBox="1"/>
          <p:nvPr/>
        </p:nvSpPr>
        <p:spPr>
          <a:xfrm>
            <a:off x="640080" y="1280160"/>
            <a:ext cx="91440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SHIPPED</a:t>
            </a:r>
            <a:endParaRPr lang="en-US" sz="1100" dirty="0"/>
          </a:p>
        </p:txBody>
      </p:sp>
      <p:sp>
        <p:nvSpPr>
          <p:cNvPr id="6" name="text_122"/>
          <p:cNvSpPr txBox="1"/>
          <p:nvPr/>
        </p:nvSpPr>
        <p:spPr>
          <a:xfrm>
            <a:off x="640080" y="1645920"/>
            <a:ext cx="224028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Naturalness model</a:t>
            </a:r>
            <a:endParaRPr lang="en-US" sz="1500" dirty="0"/>
          </a:p>
        </p:txBody>
      </p:sp>
      <p:sp>
        <p:nvSpPr>
          <p:cNvPr id="7" name="text_123"/>
          <p:cNvSpPr txBox="1"/>
          <p:nvPr/>
        </p:nvSpPr>
        <p:spPr>
          <a:xfrm>
            <a:off x="640080" y="2011680"/>
            <a:ext cx="2240280" cy="548640"/>
          </a:xfrm>
          <a:prstGeom prst="rect">
            <a:avLst/>
          </a:prstGeom>
          <a:noFill/>
          <a:ln/>
        </p:spPr>
        <p:txBody>
          <a:bodyPr wrap="square" lIns="0" tIns="0" rIns="0" bIns="0" rtlCol="0" anchor="ctr"/>
          <a:lstStyle/>
          <a:p>
            <a:pPr indent="0" marL="0">
              <a:buNone/>
            </a:pPr>
            <a:r>
              <a:rPr lang="en-US" sz="3600" b="1" dirty="0">
                <a:solidFill>
                  <a:srgbClr val="5EEAD4"/>
                </a:solidFill>
                <a:latin typeface="Calibri" pitchFamily="34" charset="0"/>
                <a:ea typeface="Calibri" pitchFamily="34" charset="-122"/>
                <a:cs typeface="Calibri" pitchFamily="34" charset="-120"/>
              </a:rPr>
              <a:t>1.2 MB</a:t>
            </a:r>
            <a:endParaRPr lang="en-US" sz="3600" dirty="0"/>
          </a:p>
        </p:txBody>
      </p:sp>
      <p:sp>
        <p:nvSpPr>
          <p:cNvPr id="8" name="text_124"/>
          <p:cNvSpPr txBox="1"/>
          <p:nvPr/>
        </p:nvSpPr>
        <p:spPr>
          <a:xfrm>
            <a:off x="640080" y="2578608"/>
            <a:ext cx="224028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byte 5-gram language model</a:t>
            </a:r>
            <a:endParaRPr lang="en-US" sz="1100" dirty="0"/>
          </a:p>
        </p:txBody>
      </p:sp>
      <p:sp>
        <p:nvSpPr>
          <p:cNvPr id="9" name="text_125"/>
          <p:cNvSpPr txBox="1"/>
          <p:nvPr/>
        </p:nvSpPr>
        <p:spPr>
          <a:xfrm>
            <a:off x="640080" y="2971800"/>
            <a:ext cx="2240280" cy="914400"/>
          </a:xfrm>
          <a:prstGeom prst="rect">
            <a:avLst/>
          </a:prstGeom>
          <a:noFill/>
          <a:ln/>
        </p:spPr>
        <p:txBody>
          <a:bodyPr wrap="square" lIns="0" tIns="0" rIns="0" bIns="0" rtlCol="0" anchor="t"/>
          <a:lstStyle/>
          <a:p>
            <a:pPr indent="0" marL="0">
              <a:buNone/>
            </a:pPr>
            <a:r>
              <a:rPr lang="en-US" sz="1200" dirty="0">
                <a:solidFill>
                  <a:srgbClr val="E8EEF6"/>
                </a:solidFill>
                <a:latin typeface="Calibri" pitchFamily="34" charset="0"/>
                <a:ea typeface="Calibri" pitchFamily="34" charset="-122"/>
                <a:cs typeface="Calibri" pitchFamily="34" charset="-120"/>
              </a:rPr>
              <a:t>Trained on benign Python. Gates the obfuscation signal; it cannot block on its own.</a:t>
            </a:r>
            <a:endParaRPr lang="en-US" sz="1200" dirty="0"/>
          </a:p>
        </p:txBody>
      </p:sp>
      <p:sp>
        <p:nvSpPr>
          <p:cNvPr id="10" name="card_126"/>
          <p:cNvSpPr/>
          <p:nvPr/>
        </p:nvSpPr>
        <p:spPr>
          <a:xfrm>
            <a:off x="3268980" y="1097280"/>
            <a:ext cx="2606040" cy="2880360"/>
          </a:xfrm>
          <a:prstGeom prst="roundRect">
            <a:avLst>
              <a:gd name="adj" fmla="val 2807"/>
            </a:avLst>
          </a:prstGeom>
          <a:solidFill>
            <a:srgbClr val="13213A"/>
          </a:solidFill>
          <a:ln w="12700">
            <a:solidFill>
              <a:srgbClr val="13213A"/>
            </a:solidFill>
            <a:prstDash val="solid"/>
          </a:ln>
        </p:spPr>
      </p:sp>
      <p:sp>
        <p:nvSpPr>
          <p:cNvPr id="11" name="badge_127"/>
          <p:cNvSpPr/>
          <p:nvPr/>
        </p:nvSpPr>
        <p:spPr>
          <a:xfrm>
            <a:off x="3451860" y="1280160"/>
            <a:ext cx="914400" cy="274320"/>
          </a:xfrm>
          <a:prstGeom prst="roundRect">
            <a:avLst>
              <a:gd name="adj" fmla="val 50000"/>
            </a:avLst>
          </a:prstGeom>
          <a:solidFill>
            <a:srgbClr val="14B8A6"/>
          </a:solidFill>
          <a:ln w="12700">
            <a:solidFill>
              <a:srgbClr val="14B8A6"/>
            </a:solidFill>
            <a:prstDash val="solid"/>
          </a:ln>
        </p:spPr>
      </p:sp>
      <p:sp>
        <p:nvSpPr>
          <p:cNvPr id="12" name="text_128"/>
          <p:cNvSpPr txBox="1"/>
          <p:nvPr/>
        </p:nvSpPr>
        <p:spPr>
          <a:xfrm>
            <a:off x="3451860" y="1280160"/>
            <a:ext cx="91440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SHIPPED</a:t>
            </a:r>
            <a:endParaRPr lang="en-US" sz="1100" dirty="0"/>
          </a:p>
        </p:txBody>
      </p:sp>
      <p:sp>
        <p:nvSpPr>
          <p:cNvPr id="13" name="text_129"/>
          <p:cNvSpPr txBox="1"/>
          <p:nvPr/>
        </p:nvSpPr>
        <p:spPr>
          <a:xfrm>
            <a:off x="3451860" y="1645920"/>
            <a:ext cx="224028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Instruction-text classifier</a:t>
            </a:r>
            <a:endParaRPr lang="en-US" sz="1500" dirty="0"/>
          </a:p>
        </p:txBody>
      </p:sp>
      <p:sp>
        <p:nvSpPr>
          <p:cNvPr id="14" name="text_130"/>
          <p:cNvSpPr txBox="1"/>
          <p:nvPr/>
        </p:nvSpPr>
        <p:spPr>
          <a:xfrm>
            <a:off x="3451860" y="2011680"/>
            <a:ext cx="2240280" cy="548640"/>
          </a:xfrm>
          <a:prstGeom prst="rect">
            <a:avLst/>
          </a:prstGeom>
          <a:noFill/>
          <a:ln/>
        </p:spPr>
        <p:txBody>
          <a:bodyPr wrap="square" lIns="0" tIns="0" rIns="0" bIns="0" rtlCol="0" anchor="ctr"/>
          <a:lstStyle/>
          <a:p>
            <a:pPr indent="0" marL="0">
              <a:buNone/>
            </a:pPr>
            <a:r>
              <a:rPr lang="en-US" sz="3600" b="1" dirty="0">
                <a:solidFill>
                  <a:srgbClr val="5EEAD4"/>
                </a:solidFill>
                <a:latin typeface="Calibri" pitchFamily="34" charset="0"/>
                <a:ea typeface="Calibri" pitchFamily="34" charset="-122"/>
                <a:cs typeface="Calibri" pitchFamily="34" charset="-120"/>
              </a:rPr>
              <a:t>0.74</a:t>
            </a:r>
            <a:endParaRPr lang="en-US" sz="3600" dirty="0"/>
          </a:p>
        </p:txBody>
      </p:sp>
      <p:sp>
        <p:nvSpPr>
          <p:cNvPr id="15" name="text_131"/>
          <p:cNvSpPr txBox="1"/>
          <p:nvPr/>
        </p:nvSpPr>
        <p:spPr>
          <a:xfrm>
            <a:off x="3451860" y="2578608"/>
            <a:ext cx="224028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recall on attack families it never saw</a:t>
            </a:r>
            <a:endParaRPr lang="en-US" sz="1100" dirty="0"/>
          </a:p>
        </p:txBody>
      </p:sp>
      <p:sp>
        <p:nvSpPr>
          <p:cNvPr id="16" name="text_132"/>
          <p:cNvSpPr txBox="1"/>
          <p:nvPr/>
        </p:nvSpPr>
        <p:spPr>
          <a:xfrm>
            <a:off x="3451860" y="2971800"/>
            <a:ext cx="2240280" cy="914400"/>
          </a:xfrm>
          <a:prstGeom prst="rect">
            <a:avLst/>
          </a:prstGeom>
          <a:noFill/>
          <a:ln/>
        </p:spPr>
        <p:txBody>
          <a:bodyPr wrap="square" lIns="0" tIns="0" rIns="0" bIns="0" rtlCol="0" anchor="t"/>
          <a:lstStyle/>
          <a:p>
            <a:pPr indent="0" marL="0">
              <a:buNone/>
            </a:pPr>
            <a:r>
              <a:rPr lang="en-US" sz="1200" dirty="0">
                <a:solidFill>
                  <a:srgbClr val="E8EEF6"/>
                </a:solidFill>
                <a:latin typeface="Calibri" pitchFamily="34" charset="0"/>
                <a:ea typeface="Calibri" pitchFamily="34" charset="-122"/>
                <a:cs typeface="Calibri" pitchFamily="34" charset="-120"/>
              </a:rPr>
              <a:t>Hashed n-gram logistic regression, 0.5 MB. ~0% false positives on 7,000 held-out comments.</a:t>
            </a:r>
            <a:endParaRPr lang="en-US" sz="1200" dirty="0"/>
          </a:p>
        </p:txBody>
      </p:sp>
      <p:sp>
        <p:nvSpPr>
          <p:cNvPr id="17" name="card_133"/>
          <p:cNvSpPr/>
          <p:nvPr/>
        </p:nvSpPr>
        <p:spPr>
          <a:xfrm>
            <a:off x="6080760" y="1097280"/>
            <a:ext cx="2606040" cy="2880360"/>
          </a:xfrm>
          <a:prstGeom prst="roundRect">
            <a:avLst>
              <a:gd name="adj" fmla="val 2807"/>
            </a:avLst>
          </a:prstGeom>
          <a:solidFill>
            <a:srgbClr val="13213A"/>
          </a:solidFill>
          <a:ln w="12700">
            <a:solidFill>
              <a:srgbClr val="F0616D"/>
            </a:solidFill>
            <a:prstDash val="solid"/>
          </a:ln>
        </p:spPr>
      </p:sp>
      <p:sp>
        <p:nvSpPr>
          <p:cNvPr id="18" name="badge_134"/>
          <p:cNvSpPr/>
          <p:nvPr/>
        </p:nvSpPr>
        <p:spPr>
          <a:xfrm>
            <a:off x="6263640" y="1280160"/>
            <a:ext cx="1188720" cy="274320"/>
          </a:xfrm>
          <a:prstGeom prst="roundRect">
            <a:avLst>
              <a:gd name="adj" fmla="val 50000"/>
            </a:avLst>
          </a:prstGeom>
          <a:solidFill>
            <a:srgbClr val="F0616D"/>
          </a:solidFill>
          <a:ln w="12700">
            <a:solidFill>
              <a:srgbClr val="F0616D"/>
            </a:solidFill>
            <a:prstDash val="solid"/>
          </a:ln>
        </p:spPr>
      </p:sp>
      <p:sp>
        <p:nvSpPr>
          <p:cNvPr id="19" name="text_135"/>
          <p:cNvSpPr txBox="1"/>
          <p:nvPr/>
        </p:nvSpPr>
        <p:spPr>
          <a:xfrm>
            <a:off x="6263640" y="1280160"/>
            <a:ext cx="118872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NOT SHIPPED</a:t>
            </a:r>
            <a:endParaRPr lang="en-US" sz="1100" dirty="0"/>
          </a:p>
        </p:txBody>
      </p:sp>
      <p:sp>
        <p:nvSpPr>
          <p:cNvPr id="20" name="text_136"/>
          <p:cNvSpPr txBox="1"/>
          <p:nvPr/>
        </p:nvSpPr>
        <p:spPr>
          <a:xfrm>
            <a:off x="6263640" y="1645920"/>
            <a:ext cx="224028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MiniLM + code classifier</a:t>
            </a:r>
            <a:endParaRPr lang="en-US" sz="1500" dirty="0"/>
          </a:p>
        </p:txBody>
      </p:sp>
      <p:sp>
        <p:nvSpPr>
          <p:cNvPr id="21" name="text_137"/>
          <p:cNvSpPr txBox="1"/>
          <p:nvPr/>
        </p:nvSpPr>
        <p:spPr>
          <a:xfrm>
            <a:off x="6263640" y="2011680"/>
            <a:ext cx="2240280" cy="548640"/>
          </a:xfrm>
          <a:prstGeom prst="rect">
            <a:avLst/>
          </a:prstGeom>
          <a:noFill/>
          <a:ln/>
        </p:spPr>
        <p:txBody>
          <a:bodyPr wrap="square" lIns="0" tIns="0" rIns="0" bIns="0" rtlCol="0" anchor="ctr"/>
          <a:lstStyle/>
          <a:p>
            <a:pPr indent="0" marL="0">
              <a:buNone/>
            </a:pPr>
            <a:r>
              <a:rPr lang="en-US" sz="3600" b="1" dirty="0">
                <a:solidFill>
                  <a:srgbClr val="F0616D"/>
                </a:solidFill>
                <a:latin typeface="Calibri" pitchFamily="34" charset="0"/>
                <a:ea typeface="Calibri" pitchFamily="34" charset="-122"/>
                <a:cs typeface="Calibri" pitchFamily="34" charset="-120"/>
              </a:rPr>
              <a:t>20–33%</a:t>
            </a:r>
            <a:endParaRPr lang="en-US" sz="3600" dirty="0"/>
          </a:p>
        </p:txBody>
      </p:sp>
      <p:sp>
        <p:nvSpPr>
          <p:cNvPr id="22" name="text_138"/>
          <p:cNvSpPr txBox="1"/>
          <p:nvPr/>
        </p:nvSpPr>
        <p:spPr>
          <a:xfrm>
            <a:off x="6263640" y="2578608"/>
            <a:ext cx="224028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recall alone on independent attacks</a:t>
            </a:r>
            <a:endParaRPr lang="en-US" sz="1100" dirty="0"/>
          </a:p>
        </p:txBody>
      </p:sp>
      <p:sp>
        <p:nvSpPr>
          <p:cNvPr id="23" name="text_139"/>
          <p:cNvSpPr txBox="1"/>
          <p:nvPr/>
        </p:nvSpPr>
        <p:spPr>
          <a:xfrm>
            <a:off x="6263640" y="2971800"/>
            <a:ext cx="2240280" cy="914400"/>
          </a:xfrm>
          <a:prstGeom prst="rect">
            <a:avLst/>
          </a:prstGeom>
          <a:noFill/>
          <a:ln/>
        </p:spPr>
        <p:txBody>
          <a:bodyPr wrap="square" lIns="0" tIns="0" rIns="0" bIns="0" rtlCol="0" anchor="t"/>
          <a:lstStyle/>
          <a:p>
            <a:pPr indent="0" marL="0">
              <a:buNone/>
            </a:pPr>
            <a:r>
              <a:rPr lang="en-US" sz="1200" dirty="0">
                <a:solidFill>
                  <a:srgbClr val="E8EEF6"/>
                </a:solidFill>
                <a:latin typeface="Calibri" pitchFamily="34" charset="0"/>
                <a:ea typeface="Calibri" pitchFamily="34" charset="-122"/>
                <a:cs typeface="Calibri" pitchFamily="34" charset="-120"/>
              </a:rPr>
              <a:t>500-row dataset had only 103 distinct snippets (52 template families). Turned off.</a:t>
            </a:r>
            <a:endParaRPr lang="en-US" sz="1200" dirty="0"/>
          </a:p>
        </p:txBody>
      </p:sp>
      <p:sp>
        <p:nvSpPr>
          <p:cNvPr id="24" name="text_140"/>
          <p:cNvSpPr txBox="1"/>
          <p:nvPr/>
        </p:nvSpPr>
        <p:spPr>
          <a:xfrm>
            <a:off x="457200" y="4114800"/>
            <a:ext cx="8229600" cy="411480"/>
          </a:xfrm>
          <a:prstGeom prst="rect">
            <a:avLst/>
          </a:prstGeom>
          <a:noFill/>
          <a:ln/>
        </p:spPr>
        <p:txBody>
          <a:bodyPr wrap="square" lIns="0" tIns="0" rIns="0" bIns="0" rtlCol="0" anchor="ctr"/>
          <a:lstStyle/>
          <a:p>
            <a:pPr algn="ctr" indent="0" marL="0">
              <a:buNone/>
            </a:pPr>
            <a:r>
              <a:rPr lang="en-US" sz="1800" i="1" dirty="0">
                <a:solidFill>
                  <a:srgbClr val="5EEAD4"/>
                </a:solidFill>
                <a:latin typeface="Calibri" pitchFamily="34" charset="0"/>
                <a:ea typeface="Calibri" pitchFamily="34" charset="-122"/>
                <a:cs typeface="Calibri" pitchFamily="34" charset="-120"/>
              </a:rPr>
              <a:t>We measured, and only shipped what validated.</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Interception proof: blocked code never runs</a:t>
            </a:r>
            <a:endParaRPr lang="en-US" sz="2800" dirty="0"/>
          </a:p>
        </p:txBody>
      </p:sp>
      <p:sp>
        <p:nvSpPr>
          <p:cNvPr id="3" name="text_141"/>
          <p:cNvSpPr txBox="1"/>
          <p:nvPr/>
        </p:nvSpPr>
        <p:spPr>
          <a:xfrm>
            <a:off x="457200" y="1097280"/>
            <a:ext cx="2743200" cy="228600"/>
          </a:xfrm>
          <a:prstGeom prst="rect">
            <a:avLst/>
          </a:prstGeom>
          <a:noFill/>
          <a:ln/>
        </p:spPr>
        <p:txBody>
          <a:bodyPr wrap="square" lIns="0" tIns="0" rIns="0" bIns="0" rtlCol="0" anchor="t"/>
          <a:lstStyle/>
          <a:p>
            <a:pPr indent="0" marL="0">
              <a:buNone/>
            </a:pPr>
            <a:r>
              <a:rPr lang="en-US" sz="1100" b="1" spc="200" kern="0" dirty="0">
                <a:solidFill>
                  <a:srgbClr val="93A4BD"/>
                </a:solidFill>
                <a:latin typeface="Calibri" pitchFamily="34" charset="0"/>
                <a:ea typeface="Calibri" pitchFamily="34" charset="-122"/>
                <a:cs typeface="Calibri" pitchFamily="34" charset="-120"/>
              </a:rPr>
              <a:t>GUARD POINTS</a:t>
            </a:r>
            <a:endParaRPr lang="en-US" sz="1100" dirty="0"/>
          </a:p>
        </p:txBody>
      </p:sp>
      <p:sp>
        <p:nvSpPr>
          <p:cNvPr id="4" name="gchip_142"/>
          <p:cNvSpPr/>
          <p:nvPr/>
        </p:nvSpPr>
        <p:spPr>
          <a:xfrm>
            <a:off x="457200" y="1371600"/>
            <a:ext cx="2011680" cy="329184"/>
          </a:xfrm>
          <a:prstGeom prst="roundRect">
            <a:avLst>
              <a:gd name="adj" fmla="val 50000"/>
            </a:avLst>
          </a:prstGeom>
          <a:solidFill>
            <a:srgbClr val="1B2D4F"/>
          </a:solidFill>
          <a:ln w="12700">
            <a:solidFill>
              <a:srgbClr val="1B2D4F"/>
            </a:solidFill>
            <a:prstDash val="solid"/>
          </a:ln>
        </p:spPr>
      </p:sp>
      <p:sp>
        <p:nvSpPr>
          <p:cNvPr id="5" name="text_143"/>
          <p:cNvSpPr txBox="1"/>
          <p:nvPr/>
        </p:nvSpPr>
        <p:spPr>
          <a:xfrm>
            <a:off x="457200" y="1371600"/>
            <a:ext cx="2011680" cy="329184"/>
          </a:xfrm>
          <a:prstGeom prst="rect">
            <a:avLst/>
          </a:prstGeom>
          <a:noFill/>
          <a:ln/>
        </p:spPr>
        <p:txBody>
          <a:bodyPr wrap="square" lIns="0" tIns="0" rIns="0" bIns="0" rtlCol="0" anchor="ctr"/>
          <a:lstStyle/>
          <a:p>
            <a:pPr algn="ctr" indent="0" marL="0">
              <a:buNone/>
            </a:pPr>
            <a:r>
              <a:rPr lang="en-US" sz="1400" dirty="0">
                <a:solidFill>
                  <a:srgbClr val="5EEAD4"/>
                </a:solidFill>
                <a:latin typeface="Courier New" pitchFamily="34" charset="0"/>
                <a:ea typeface="Courier New" pitchFamily="34" charset="-122"/>
                <a:cs typeface="Courier New" pitchFamily="34" charset="-120"/>
              </a:rPr>
              <a:t>@guarded</a:t>
            </a:r>
            <a:endParaRPr lang="en-US" sz="1400" dirty="0"/>
          </a:p>
        </p:txBody>
      </p:sp>
      <p:sp>
        <p:nvSpPr>
          <p:cNvPr id="6" name="gchip_144"/>
          <p:cNvSpPr/>
          <p:nvPr/>
        </p:nvSpPr>
        <p:spPr>
          <a:xfrm>
            <a:off x="457200" y="1755648"/>
            <a:ext cx="2011680" cy="329184"/>
          </a:xfrm>
          <a:prstGeom prst="roundRect">
            <a:avLst>
              <a:gd name="adj" fmla="val 50000"/>
            </a:avLst>
          </a:prstGeom>
          <a:solidFill>
            <a:srgbClr val="1B2D4F"/>
          </a:solidFill>
          <a:ln w="12700">
            <a:solidFill>
              <a:srgbClr val="1B2D4F"/>
            </a:solidFill>
            <a:prstDash val="solid"/>
          </a:ln>
        </p:spPr>
      </p:sp>
      <p:sp>
        <p:nvSpPr>
          <p:cNvPr id="7" name="text_145"/>
          <p:cNvSpPr txBox="1"/>
          <p:nvPr/>
        </p:nvSpPr>
        <p:spPr>
          <a:xfrm>
            <a:off x="457200" y="1755648"/>
            <a:ext cx="2011680" cy="329184"/>
          </a:xfrm>
          <a:prstGeom prst="rect">
            <a:avLst/>
          </a:prstGeom>
          <a:noFill/>
          <a:ln/>
        </p:spPr>
        <p:txBody>
          <a:bodyPr wrap="square" lIns="0" tIns="0" rIns="0" bIns="0" rtlCol="0" anchor="ctr"/>
          <a:lstStyle/>
          <a:p>
            <a:pPr algn="ctr" indent="0" marL="0">
              <a:buNone/>
            </a:pPr>
            <a:r>
              <a:rPr lang="en-US" sz="1400" dirty="0">
                <a:solidFill>
                  <a:srgbClr val="5EEAD4"/>
                </a:solidFill>
                <a:latin typeface="Courier New" pitchFamily="34" charset="0"/>
                <a:ea typeface="Courier New" pitchFamily="34" charset="-122"/>
                <a:cs typeface="Courier New" pitchFamily="34" charset="-120"/>
              </a:rPr>
              <a:t>guarded_exec</a:t>
            </a:r>
            <a:endParaRPr lang="en-US" sz="1400" dirty="0"/>
          </a:p>
        </p:txBody>
      </p:sp>
      <p:sp>
        <p:nvSpPr>
          <p:cNvPr id="8" name="gchip_146"/>
          <p:cNvSpPr/>
          <p:nvPr/>
        </p:nvSpPr>
        <p:spPr>
          <a:xfrm>
            <a:off x="457200" y="2139696"/>
            <a:ext cx="2011680" cy="329184"/>
          </a:xfrm>
          <a:prstGeom prst="roundRect">
            <a:avLst>
              <a:gd name="adj" fmla="val 50000"/>
            </a:avLst>
          </a:prstGeom>
          <a:solidFill>
            <a:srgbClr val="1B2D4F"/>
          </a:solidFill>
          <a:ln w="12700">
            <a:solidFill>
              <a:srgbClr val="1B2D4F"/>
            </a:solidFill>
            <a:prstDash val="solid"/>
          </a:ln>
        </p:spPr>
      </p:sp>
      <p:sp>
        <p:nvSpPr>
          <p:cNvPr id="9" name="text_147"/>
          <p:cNvSpPr txBox="1"/>
          <p:nvPr/>
        </p:nvSpPr>
        <p:spPr>
          <a:xfrm>
            <a:off x="457200" y="2139696"/>
            <a:ext cx="2011680" cy="329184"/>
          </a:xfrm>
          <a:prstGeom prst="rect">
            <a:avLst/>
          </a:prstGeom>
          <a:noFill/>
          <a:ln/>
        </p:spPr>
        <p:txBody>
          <a:bodyPr wrap="square" lIns="0" tIns="0" rIns="0" bIns="0" rtlCol="0" anchor="ctr"/>
          <a:lstStyle/>
          <a:p>
            <a:pPr algn="ctr" indent="0" marL="0">
              <a:buNone/>
            </a:pPr>
            <a:r>
              <a:rPr lang="en-US" sz="1400" dirty="0">
                <a:solidFill>
                  <a:srgbClr val="5EEAD4"/>
                </a:solidFill>
                <a:latin typeface="Courier New" pitchFamily="34" charset="0"/>
                <a:ea typeface="Courier New" pitchFamily="34" charset="-122"/>
                <a:cs typeface="Courier New" pitchFamily="34" charset="-120"/>
              </a:rPr>
              <a:t>guard()</a:t>
            </a:r>
            <a:endParaRPr lang="en-US" sz="1400" dirty="0"/>
          </a:p>
        </p:txBody>
      </p:sp>
      <p:sp>
        <p:nvSpPr>
          <p:cNvPr id="10" name="text_148"/>
          <p:cNvSpPr txBox="1"/>
          <p:nvPr/>
        </p:nvSpPr>
        <p:spPr>
          <a:xfrm>
            <a:off x="457200" y="2560320"/>
            <a:ext cx="2743200" cy="228600"/>
          </a:xfrm>
          <a:prstGeom prst="rect">
            <a:avLst/>
          </a:prstGeom>
          <a:noFill/>
          <a:ln/>
        </p:spPr>
        <p:txBody>
          <a:bodyPr wrap="square" lIns="0" tIns="0" rIns="0" bIns="0" rtlCol="0" anchor="t"/>
          <a:lstStyle/>
          <a:p>
            <a:pPr indent="0" marL="0">
              <a:buNone/>
            </a:pPr>
            <a:r>
              <a:rPr lang="en-US" sz="1100" b="1" spc="200" kern="0" dirty="0">
                <a:solidFill>
                  <a:srgbClr val="93A4BD"/>
                </a:solidFill>
                <a:latin typeface="Calibri" pitchFamily="34" charset="0"/>
                <a:ea typeface="Calibri" pitchFamily="34" charset="-122"/>
                <a:cs typeface="Calibri" pitchFamily="34" charset="-120"/>
              </a:rPr>
              <a:t>GUARANTEES</a:t>
            </a:r>
            <a:endParaRPr lang="en-US" sz="1100" dirty="0"/>
          </a:p>
        </p:txBody>
      </p:sp>
      <p:pic>
        <p:nvPicPr>
          <p:cNvPr id="11" name="chk_149" descr="check">    </p:cNvPr>
          <p:cNvPicPr>
            <a:picLocks noChangeAspect="1"/>
          </p:cNvPicPr>
          <p:nvPr/>
        </p:nvPicPr>
        <p:blipFill>
          <a:blip r:embed="rId1"/>
          <a:stretch>
            <a:fillRect/>
          </a:stretch>
        </p:blipFill>
        <p:spPr>
          <a:xfrm>
            <a:off x="457200" y="2871216"/>
            <a:ext cx="201168" cy="201168"/>
          </a:xfrm>
          <a:prstGeom prst="rect">
            <a:avLst/>
          </a:prstGeom>
        </p:spPr>
      </p:pic>
      <p:sp>
        <p:nvSpPr>
          <p:cNvPr id="12" name="text_150"/>
          <p:cNvSpPr txBox="1"/>
          <p:nvPr/>
        </p:nvSpPr>
        <p:spPr>
          <a:xfrm>
            <a:off x="777240" y="2834640"/>
            <a:ext cx="2743200" cy="274320"/>
          </a:xfrm>
          <a:prstGeom prst="rect">
            <a:avLst/>
          </a:prstGeom>
          <a:noFill/>
          <a:ln/>
        </p:spPr>
        <p:txBody>
          <a:bodyPr wrap="square" lIns="0" tIns="0" rIns="0" bIns="0" rtlCol="0" anchor="ctr"/>
          <a:lstStyle/>
          <a:p>
            <a:pPr indent="0" marL="0">
              <a:buNone/>
            </a:pPr>
            <a:r>
              <a:rPr lang="en-US" sz="1300" dirty="0">
                <a:solidFill>
                  <a:srgbClr val="E8EEF6"/>
                </a:solidFill>
                <a:latin typeface="Calibri" pitchFamily="34" charset="0"/>
                <a:ea typeface="Calibri" pitchFamily="34" charset="-122"/>
                <a:cs typeface="Calibri" pitchFamily="34" charset="-120"/>
              </a:rPr>
              <a:t>Scans synchronously, before execution</a:t>
            </a:r>
            <a:endParaRPr lang="en-US" sz="1300" dirty="0"/>
          </a:p>
        </p:txBody>
      </p:sp>
      <p:pic>
        <p:nvPicPr>
          <p:cNvPr id="13" name="chk_151" descr="check">    </p:cNvPr>
          <p:cNvPicPr>
            <a:picLocks noChangeAspect="1"/>
          </p:cNvPicPr>
          <p:nvPr/>
        </p:nvPicPr>
        <p:blipFill>
          <a:blip r:embed="rId2"/>
          <a:stretch>
            <a:fillRect/>
          </a:stretch>
        </p:blipFill>
        <p:spPr>
          <a:xfrm>
            <a:off x="457200" y="3172968"/>
            <a:ext cx="201168" cy="201168"/>
          </a:xfrm>
          <a:prstGeom prst="rect">
            <a:avLst/>
          </a:prstGeom>
        </p:spPr>
      </p:pic>
      <p:sp>
        <p:nvSpPr>
          <p:cNvPr id="14" name="text_152"/>
          <p:cNvSpPr txBox="1"/>
          <p:nvPr/>
        </p:nvSpPr>
        <p:spPr>
          <a:xfrm>
            <a:off x="777240" y="3136392"/>
            <a:ext cx="2743200" cy="274320"/>
          </a:xfrm>
          <a:prstGeom prst="rect">
            <a:avLst/>
          </a:prstGeom>
          <a:noFill/>
          <a:ln/>
        </p:spPr>
        <p:txBody>
          <a:bodyPr wrap="square" lIns="0" tIns="0" rIns="0" bIns="0" rtlCol="0" anchor="ctr"/>
          <a:lstStyle/>
          <a:p>
            <a:pPr indent="0" marL="0">
              <a:buNone/>
            </a:pPr>
            <a:r>
              <a:rPr lang="en-US" sz="1300" dirty="0">
                <a:solidFill>
                  <a:srgbClr val="E8EEF6"/>
                </a:solidFill>
                <a:latin typeface="Calibri" pitchFamily="34" charset="0"/>
                <a:ea typeface="Calibri" pitchFamily="34" charset="-122"/>
                <a:cs typeface="Calibri" pitchFamily="34" charset="-120"/>
              </a:rPr>
              <a:t>Fails closed</a:t>
            </a:r>
            <a:endParaRPr lang="en-US" sz="1300" dirty="0"/>
          </a:p>
        </p:txBody>
      </p:sp>
      <p:pic>
        <p:nvPicPr>
          <p:cNvPr id="15" name="chk_153" descr="check">    </p:cNvPr>
          <p:cNvPicPr>
            <a:picLocks noChangeAspect="1"/>
          </p:cNvPicPr>
          <p:nvPr/>
        </p:nvPicPr>
        <p:blipFill>
          <a:blip r:embed="rId3"/>
          <a:stretch>
            <a:fillRect/>
          </a:stretch>
        </p:blipFill>
        <p:spPr>
          <a:xfrm>
            <a:off x="457200" y="3474720"/>
            <a:ext cx="201168" cy="201168"/>
          </a:xfrm>
          <a:prstGeom prst="rect">
            <a:avLst/>
          </a:prstGeom>
        </p:spPr>
      </p:pic>
      <p:sp>
        <p:nvSpPr>
          <p:cNvPr id="16" name="text_154"/>
          <p:cNvSpPr txBox="1"/>
          <p:nvPr/>
        </p:nvSpPr>
        <p:spPr>
          <a:xfrm>
            <a:off x="777240" y="3438144"/>
            <a:ext cx="2743200" cy="274320"/>
          </a:xfrm>
          <a:prstGeom prst="rect">
            <a:avLst/>
          </a:prstGeom>
          <a:noFill/>
          <a:ln/>
        </p:spPr>
        <p:txBody>
          <a:bodyPr wrap="square" lIns="0" tIns="0" rIns="0" bIns="0" rtlCol="0" anchor="ctr"/>
          <a:lstStyle/>
          <a:p>
            <a:pPr indent="0" marL="0">
              <a:buNone/>
            </a:pPr>
            <a:r>
              <a:rPr lang="en-US" sz="1300" dirty="0">
                <a:solidFill>
                  <a:srgbClr val="E8EEF6"/>
                </a:solidFill>
                <a:latin typeface="Calibri" pitchFamily="34" charset="0"/>
                <a:ea typeface="Calibri" pitchFamily="34" charset="-122"/>
                <a:cs typeface="Calibri" pitchFamily="34" charset="-120"/>
              </a:rPr>
              <a:t>Runs exactly the scanned bytes</a:t>
            </a:r>
            <a:endParaRPr lang="en-US" sz="1300" dirty="0"/>
          </a:p>
        </p:txBody>
      </p:sp>
      <p:sp>
        <p:nvSpPr>
          <p:cNvPr id="17" name="card_155"/>
          <p:cNvSpPr/>
          <p:nvPr/>
        </p:nvSpPr>
        <p:spPr>
          <a:xfrm>
            <a:off x="3703320" y="1737360"/>
            <a:ext cx="1143000" cy="731520"/>
          </a:xfrm>
          <a:prstGeom prst="roundRect">
            <a:avLst>
              <a:gd name="adj" fmla="val 10000"/>
            </a:avLst>
          </a:prstGeom>
          <a:solidFill>
            <a:srgbClr val="13213A"/>
          </a:solidFill>
          <a:ln w="12700">
            <a:solidFill>
              <a:srgbClr val="13213A"/>
            </a:solidFill>
            <a:prstDash val="solid"/>
          </a:ln>
        </p:spPr>
      </p:sp>
      <p:sp>
        <p:nvSpPr>
          <p:cNvPr id="18" name="text_156"/>
          <p:cNvSpPr txBox="1"/>
          <p:nvPr/>
        </p:nvSpPr>
        <p:spPr>
          <a:xfrm>
            <a:off x="3703320" y="1737360"/>
            <a:ext cx="1143000" cy="731520"/>
          </a:xfrm>
          <a:prstGeom prst="rect">
            <a:avLst/>
          </a:prstGeom>
          <a:noFill/>
          <a:ln/>
        </p:spPr>
        <p:txBody>
          <a:bodyPr wrap="square" lIns="0" tIns="0" rIns="0" bIns="0" rtlCol="0" anchor="ctr"/>
          <a:lstStyle/>
          <a:p>
            <a:pPr algn="ctr" indent="0" marL="0">
              <a:buNone/>
            </a:pPr>
            <a:r>
              <a:rPr lang="en-US" sz="1500" b="1" dirty="0">
                <a:solidFill>
                  <a:srgbClr val="E8EEF6"/>
                </a:solidFill>
                <a:latin typeface="Calibri" pitchFamily="34" charset="0"/>
                <a:ea typeface="Calibri" pitchFamily="34" charset="-122"/>
                <a:cs typeface="Calibri" pitchFamily="34" charset="-120"/>
              </a:rPr>
              <a:t>Snippet</a:t>
            </a:r>
            <a:endParaRPr lang="en-US" sz="1500" dirty="0"/>
          </a:p>
        </p:txBody>
      </p:sp>
      <p:sp>
        <p:nvSpPr>
          <p:cNvPr id="19" name="arrow_157"/>
          <p:cNvSpPr/>
          <p:nvPr/>
        </p:nvSpPr>
        <p:spPr>
          <a:xfrm>
            <a:off x="4892040" y="2103120"/>
            <a:ext cx="365760" cy="914"/>
          </a:xfrm>
          <a:prstGeom prst="line">
            <a:avLst/>
          </a:prstGeom>
          <a:noFill/>
          <a:ln w="25400">
            <a:solidFill>
              <a:srgbClr val="14B8A6"/>
            </a:solidFill>
            <a:prstDash val="solid"/>
            <a:tailEnd type="triangle"/>
          </a:ln>
        </p:spPr>
      </p:sp>
      <p:sp>
        <p:nvSpPr>
          <p:cNvPr id="20" name="card_158"/>
          <p:cNvSpPr/>
          <p:nvPr/>
        </p:nvSpPr>
        <p:spPr>
          <a:xfrm>
            <a:off x="5303520" y="1737360"/>
            <a:ext cx="1188720" cy="731520"/>
          </a:xfrm>
          <a:prstGeom prst="roundRect">
            <a:avLst>
              <a:gd name="adj" fmla="val 10000"/>
            </a:avLst>
          </a:prstGeom>
          <a:solidFill>
            <a:srgbClr val="14B8A6"/>
          </a:solidFill>
          <a:ln w="12700">
            <a:solidFill>
              <a:srgbClr val="14B8A6"/>
            </a:solidFill>
            <a:prstDash val="solid"/>
          </a:ln>
        </p:spPr>
      </p:sp>
      <p:sp>
        <p:nvSpPr>
          <p:cNvPr id="21" name="text_159"/>
          <p:cNvSpPr txBox="1"/>
          <p:nvPr/>
        </p:nvSpPr>
        <p:spPr>
          <a:xfrm>
            <a:off x="5303520" y="1737360"/>
            <a:ext cx="1188720" cy="731520"/>
          </a:xfrm>
          <a:prstGeom prst="rect">
            <a:avLst/>
          </a:prstGeom>
          <a:noFill/>
          <a:ln/>
        </p:spPr>
        <p:txBody>
          <a:bodyPr wrap="square" lIns="0" tIns="0" rIns="0" bIns="0" rtlCol="0" anchor="ctr"/>
          <a:lstStyle/>
          <a:p>
            <a:pPr algn="ctr" indent="0" marL="0">
              <a:buNone/>
            </a:pPr>
            <a:r>
              <a:rPr lang="en-US" sz="1500" b="1" dirty="0">
                <a:solidFill>
                  <a:srgbClr val="0B1426"/>
                </a:solidFill>
                <a:latin typeface="Calibri" pitchFamily="34" charset="0"/>
                <a:ea typeface="Calibri" pitchFamily="34" charset="-122"/>
                <a:cs typeface="Calibri" pitchFamily="34" charset="-120"/>
              </a:rPr>
              <a:t>Scan</a:t>
            </a:r>
            <a:endParaRPr lang="en-US" sz="1500" dirty="0"/>
          </a:p>
        </p:txBody>
      </p:sp>
      <p:sp>
        <p:nvSpPr>
          <p:cNvPr id="22" name="arrow_160"/>
          <p:cNvSpPr/>
          <p:nvPr/>
        </p:nvSpPr>
        <p:spPr>
          <a:xfrm flipV="1">
            <a:off x="6537960" y="1463040"/>
            <a:ext cx="320040" cy="502920"/>
          </a:xfrm>
          <a:prstGeom prst="line">
            <a:avLst/>
          </a:prstGeom>
          <a:noFill/>
          <a:ln w="25400">
            <a:solidFill>
              <a:srgbClr val="14B8A6"/>
            </a:solidFill>
            <a:prstDash val="solid"/>
            <a:tailEnd type="triangle"/>
          </a:ln>
        </p:spPr>
      </p:sp>
      <p:sp>
        <p:nvSpPr>
          <p:cNvPr id="23" name="arrow_161"/>
          <p:cNvSpPr/>
          <p:nvPr/>
        </p:nvSpPr>
        <p:spPr>
          <a:xfrm>
            <a:off x="6537960" y="2240280"/>
            <a:ext cx="320040" cy="502920"/>
          </a:xfrm>
          <a:prstGeom prst="line">
            <a:avLst/>
          </a:prstGeom>
          <a:noFill/>
          <a:ln w="25400">
            <a:solidFill>
              <a:srgbClr val="F0616D"/>
            </a:solidFill>
            <a:prstDash val="solid"/>
            <a:tailEnd type="triangle"/>
          </a:ln>
        </p:spPr>
      </p:sp>
      <p:sp>
        <p:nvSpPr>
          <p:cNvPr id="24" name="card_162"/>
          <p:cNvSpPr/>
          <p:nvPr/>
        </p:nvSpPr>
        <p:spPr>
          <a:xfrm>
            <a:off x="6903720" y="1097280"/>
            <a:ext cx="1783080" cy="777240"/>
          </a:xfrm>
          <a:prstGeom prst="roundRect">
            <a:avLst>
              <a:gd name="adj" fmla="val 9412"/>
            </a:avLst>
          </a:prstGeom>
          <a:solidFill>
            <a:srgbClr val="13213A"/>
          </a:solidFill>
          <a:ln w="15875">
            <a:solidFill>
              <a:srgbClr val="14B8A6"/>
            </a:solidFill>
            <a:prstDash val="solid"/>
          </a:ln>
        </p:spPr>
      </p:sp>
      <p:sp>
        <p:nvSpPr>
          <p:cNvPr id="25" name="text_163"/>
          <p:cNvSpPr txBox="1"/>
          <p:nvPr/>
        </p:nvSpPr>
        <p:spPr>
          <a:xfrm>
            <a:off x="6995160" y="1097280"/>
            <a:ext cx="1645920" cy="777240"/>
          </a:xfrm>
          <a:prstGeom prst="rect">
            <a:avLst/>
          </a:prstGeom>
          <a:noFill/>
          <a:ln/>
        </p:spPr>
        <p:txBody>
          <a:bodyPr wrap="square" lIns="0" tIns="0" rIns="0" bIns="0" rtlCol="0" anchor="ctr"/>
          <a:lstStyle/>
          <a:p>
            <a:pPr indent="0" marL="0">
              <a:buNone/>
            </a:pPr>
            <a:r>
              <a:rPr lang="en-US" sz="1400" b="1" dirty="0">
                <a:solidFill>
                  <a:srgbClr val="5EEAD4"/>
                </a:solidFill>
                <a:latin typeface="Calibri" pitchFamily="34" charset="0"/>
                <a:ea typeface="Calibri" pitchFamily="34" charset="-122"/>
                <a:cs typeface="Calibri" pitchFamily="34" charset="-120"/>
              </a:rPr>
              <a:t>Safe → runs</a:t>
            </a:r>
            <a:endParaRPr lang="en-US" sz="1400" dirty="0"/>
          </a:p>
          <a:p>
            <a:pPr indent="0" marL="0">
              <a:buNone/>
            </a:pPr>
            <a:r>
              <a:rPr lang="en-US" sz="1200" dirty="0">
                <a:solidFill>
                  <a:srgbClr val="93A4BD"/>
                </a:solidFill>
                <a:latin typeface="Calibri" pitchFamily="34" charset="0"/>
                <a:ea typeface="Calibri" pitchFamily="34" charset="-122"/>
                <a:cs typeface="Calibri" pitchFamily="34" charset="-120"/>
              </a:rPr>
              <a:t>marker file appears</a:t>
            </a:r>
            <a:endParaRPr lang="en-US" sz="1400" dirty="0"/>
          </a:p>
        </p:txBody>
      </p:sp>
      <p:sp>
        <p:nvSpPr>
          <p:cNvPr id="26" name="card_164"/>
          <p:cNvSpPr/>
          <p:nvPr/>
        </p:nvSpPr>
        <p:spPr>
          <a:xfrm>
            <a:off x="6903720" y="2377440"/>
            <a:ext cx="1783080" cy="777240"/>
          </a:xfrm>
          <a:prstGeom prst="roundRect">
            <a:avLst>
              <a:gd name="adj" fmla="val 9412"/>
            </a:avLst>
          </a:prstGeom>
          <a:solidFill>
            <a:srgbClr val="13213A"/>
          </a:solidFill>
          <a:ln w="15875">
            <a:solidFill>
              <a:srgbClr val="F0616D"/>
            </a:solidFill>
            <a:prstDash val="solid"/>
          </a:ln>
        </p:spPr>
      </p:sp>
      <p:sp>
        <p:nvSpPr>
          <p:cNvPr id="27" name="text_165"/>
          <p:cNvSpPr txBox="1"/>
          <p:nvPr/>
        </p:nvSpPr>
        <p:spPr>
          <a:xfrm>
            <a:off x="6995160" y="2377440"/>
            <a:ext cx="1645920" cy="777240"/>
          </a:xfrm>
          <a:prstGeom prst="rect">
            <a:avLst/>
          </a:prstGeom>
          <a:noFill/>
          <a:ln/>
        </p:spPr>
        <p:txBody>
          <a:bodyPr wrap="square" lIns="0" tIns="0" rIns="0" bIns="0" rtlCol="0" anchor="ctr"/>
          <a:lstStyle/>
          <a:p>
            <a:pPr indent="0" marL="0">
              <a:buNone/>
            </a:pPr>
            <a:r>
              <a:rPr lang="en-US" sz="1400" b="1" dirty="0">
                <a:solidFill>
                  <a:srgbClr val="F0616D"/>
                </a:solidFill>
                <a:latin typeface="Calibri" pitchFamily="34" charset="0"/>
                <a:ea typeface="Calibri" pitchFamily="34" charset="-122"/>
                <a:cs typeface="Calibri" pitchFamily="34" charset="-120"/>
              </a:rPr>
              <a:t>Unsafe → blocked</a:t>
            </a:r>
            <a:endParaRPr lang="en-US" sz="1400" dirty="0"/>
          </a:p>
          <a:p>
            <a:pPr indent="0" marL="0">
              <a:buNone/>
            </a:pPr>
            <a:r>
              <a:rPr lang="en-US" sz="1200" dirty="0">
                <a:solidFill>
                  <a:srgbClr val="93A4BD"/>
                </a:solidFill>
                <a:latin typeface="Calibri" pitchFamily="34" charset="0"/>
                <a:ea typeface="Calibri" pitchFamily="34" charset="-122"/>
                <a:cs typeface="Calibri" pitchFamily="34" charset="-120"/>
              </a:rPr>
              <a:t>marker never appears</a:t>
            </a:r>
            <a:endParaRPr lang="en-US" sz="1400" dirty="0"/>
          </a:p>
        </p:txBody>
      </p:sp>
      <p:sp>
        <p:nvSpPr>
          <p:cNvPr id="28" name="text_166"/>
          <p:cNvSpPr txBox="1"/>
          <p:nvPr/>
        </p:nvSpPr>
        <p:spPr>
          <a:xfrm>
            <a:off x="3703320" y="3246120"/>
            <a:ext cx="4983480" cy="274320"/>
          </a:xfrm>
          <a:prstGeom prst="rect">
            <a:avLst/>
          </a:prstGeom>
          <a:noFill/>
          <a:ln/>
        </p:spPr>
        <p:txBody>
          <a:bodyPr wrap="square" lIns="0" tIns="0" rIns="0" bIns="0" rtlCol="0" anchor="t"/>
          <a:lstStyle/>
          <a:p>
            <a:pPr algn="r" indent="0" marL="0">
              <a:buNone/>
            </a:pPr>
            <a:r>
              <a:rPr lang="en-US" sz="1200" dirty="0">
                <a:solidFill>
                  <a:srgbClr val="93A4BD"/>
                </a:solidFill>
                <a:latin typeface="Calibri" pitchFamily="34" charset="0"/>
                <a:ea typeface="Calibri" pitchFamily="34" charset="-122"/>
                <a:cs typeface="Calibri" pitchFamily="34" charset="-120"/>
              </a:rPr>
              <a:t>A decorated agent function's body is never entered.</a:t>
            </a:r>
            <a:endParaRPr lang="en-US" sz="1200" dirty="0"/>
          </a:p>
        </p:txBody>
      </p:sp>
      <p:sp>
        <p:nvSpPr>
          <p:cNvPr id="29" name="card_167"/>
          <p:cNvSpPr/>
          <p:nvPr/>
        </p:nvSpPr>
        <p:spPr>
          <a:xfrm>
            <a:off x="457200" y="3840480"/>
            <a:ext cx="8229600" cy="731520"/>
          </a:xfrm>
          <a:prstGeom prst="roundRect">
            <a:avLst>
              <a:gd name="adj" fmla="val 10000"/>
            </a:avLst>
          </a:prstGeom>
          <a:solidFill>
            <a:srgbClr val="070D1A"/>
          </a:solidFill>
          <a:ln w="12700">
            <a:solidFill>
              <a:srgbClr val="2A3E60"/>
            </a:solidFill>
            <a:prstDash val="solid"/>
          </a:ln>
        </p:spPr>
      </p:sp>
      <p:sp>
        <p:nvSpPr>
          <p:cNvPr id="30" name="text_168"/>
          <p:cNvSpPr txBox="1"/>
          <p:nvPr/>
        </p:nvSpPr>
        <p:spPr>
          <a:xfrm>
            <a:off x="685800" y="3840480"/>
            <a:ext cx="7863840" cy="731520"/>
          </a:xfrm>
          <a:prstGeom prst="rect">
            <a:avLst/>
          </a:prstGeom>
          <a:noFill/>
          <a:ln/>
        </p:spPr>
        <p:txBody>
          <a:bodyPr wrap="square" lIns="0" tIns="0" rIns="0" bIns="0" rtlCol="0" anchor="ctr"/>
          <a:lstStyle/>
          <a:p>
            <a:pPr indent="0" marL="0">
              <a:buNone/>
            </a:pPr>
            <a:r>
              <a:rPr lang="en-US" sz="1100" dirty="0">
                <a:solidFill>
                  <a:srgbClr val="93A4BD"/>
                </a:solidFill>
                <a:latin typeface="Courier New" pitchFamily="34" charset="0"/>
                <a:ea typeface="Courier New" pitchFamily="34" charset="-122"/>
                <a:cs typeface="Courier New" pitchFamily="34" charset="-120"/>
              </a:rPr>
              <a:t>$ python demo/intercept_check.py</a:t>
            </a:r>
            <a:endParaRPr lang="en-US" sz="1100" dirty="0"/>
          </a:p>
          <a:p>
            <a:pPr indent="0" marL="0">
              <a:buNone/>
            </a:pPr>
            <a:r>
              <a:rPr lang="en-US" sz="1600" b="1" dirty="0">
                <a:solidFill>
                  <a:srgbClr val="5EEAD4"/>
                </a:solidFill>
                <a:latin typeface="Courier New" pitchFamily="34" charset="0"/>
                <a:ea typeface="Courier New" pitchFamily="34" charset="-122"/>
                <a:cs typeface="Courier New" pitchFamily="34" charset="-120"/>
              </a:rPr>
              <a:t>INTERCEPTION PROOF: PASS - blocked code never executed</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Dev sample: a perfect score, but it guided development</a:t>
            </a:r>
            <a:endParaRPr lang="en-US" sz="2800" dirty="0"/>
          </a:p>
        </p:txBody>
      </p:sp>
      <p:sp>
        <p:nvSpPr>
          <p:cNvPr id="3" name="card_169"/>
          <p:cNvSpPr/>
          <p:nvPr/>
        </p:nvSpPr>
        <p:spPr>
          <a:xfrm>
            <a:off x="457200" y="1234440"/>
            <a:ext cx="1499616" cy="1645920"/>
          </a:xfrm>
          <a:prstGeom prst="roundRect">
            <a:avLst>
              <a:gd name="adj" fmla="val 4878"/>
            </a:avLst>
          </a:prstGeom>
          <a:solidFill>
            <a:srgbClr val="13213A"/>
          </a:solidFill>
          <a:ln w="12700">
            <a:solidFill>
              <a:srgbClr val="13213A"/>
            </a:solidFill>
            <a:prstDash val="solid"/>
          </a:ln>
        </p:spPr>
      </p:sp>
      <p:sp>
        <p:nvSpPr>
          <p:cNvPr id="4" name="text_170"/>
          <p:cNvSpPr txBox="1"/>
          <p:nvPr/>
        </p:nvSpPr>
        <p:spPr>
          <a:xfrm>
            <a:off x="457200" y="1417320"/>
            <a:ext cx="1499616" cy="731520"/>
          </a:xfrm>
          <a:prstGeom prst="rect">
            <a:avLst/>
          </a:prstGeom>
          <a:noFill/>
          <a:ln/>
        </p:spPr>
        <p:txBody>
          <a:bodyPr wrap="square" lIns="0" tIns="0" rIns="0" bIns="0" rtlCol="0" anchor="ctr"/>
          <a:lstStyle/>
          <a:p>
            <a:pPr algn="ctr" indent="0" marL="0">
              <a:buNone/>
            </a:pPr>
            <a:r>
              <a:rPr lang="en-US" sz="4000" b="1" dirty="0">
                <a:solidFill>
                  <a:srgbClr val="5EEAD4"/>
                </a:solidFill>
                <a:latin typeface="Calibri" pitchFamily="34" charset="0"/>
                <a:ea typeface="Calibri" pitchFamily="34" charset="-122"/>
                <a:cs typeface="Calibri" pitchFamily="34" charset="-120"/>
              </a:rPr>
              <a:t>1.00</a:t>
            </a:r>
            <a:endParaRPr lang="en-US" sz="4000" dirty="0"/>
          </a:p>
        </p:txBody>
      </p:sp>
      <p:sp>
        <p:nvSpPr>
          <p:cNvPr id="5" name="text_171"/>
          <p:cNvSpPr txBox="1"/>
          <p:nvPr/>
        </p:nvSpPr>
        <p:spPr>
          <a:xfrm>
            <a:off x="548640" y="2240280"/>
            <a:ext cx="1316736" cy="50292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Precision</a:t>
            </a:r>
            <a:endParaRPr lang="en-US" sz="1300" dirty="0"/>
          </a:p>
        </p:txBody>
      </p:sp>
      <p:sp>
        <p:nvSpPr>
          <p:cNvPr id="6" name="card_172"/>
          <p:cNvSpPr/>
          <p:nvPr/>
        </p:nvSpPr>
        <p:spPr>
          <a:xfrm>
            <a:off x="2139696" y="1234440"/>
            <a:ext cx="1499616" cy="1645920"/>
          </a:xfrm>
          <a:prstGeom prst="roundRect">
            <a:avLst>
              <a:gd name="adj" fmla="val 4878"/>
            </a:avLst>
          </a:prstGeom>
          <a:solidFill>
            <a:srgbClr val="13213A"/>
          </a:solidFill>
          <a:ln w="12700">
            <a:solidFill>
              <a:srgbClr val="13213A"/>
            </a:solidFill>
            <a:prstDash val="solid"/>
          </a:ln>
        </p:spPr>
      </p:sp>
      <p:sp>
        <p:nvSpPr>
          <p:cNvPr id="7" name="text_173"/>
          <p:cNvSpPr txBox="1"/>
          <p:nvPr/>
        </p:nvSpPr>
        <p:spPr>
          <a:xfrm>
            <a:off x="2139696" y="1417320"/>
            <a:ext cx="1499616" cy="731520"/>
          </a:xfrm>
          <a:prstGeom prst="rect">
            <a:avLst/>
          </a:prstGeom>
          <a:noFill/>
          <a:ln/>
        </p:spPr>
        <p:txBody>
          <a:bodyPr wrap="square" lIns="0" tIns="0" rIns="0" bIns="0" rtlCol="0" anchor="ctr"/>
          <a:lstStyle/>
          <a:p>
            <a:pPr algn="ctr" indent="0" marL="0">
              <a:buNone/>
            </a:pPr>
            <a:r>
              <a:rPr lang="en-US" sz="4000" b="1" dirty="0">
                <a:solidFill>
                  <a:srgbClr val="5EEAD4"/>
                </a:solidFill>
                <a:latin typeface="Calibri" pitchFamily="34" charset="0"/>
                <a:ea typeface="Calibri" pitchFamily="34" charset="-122"/>
                <a:cs typeface="Calibri" pitchFamily="34" charset="-120"/>
              </a:rPr>
              <a:t>1.00</a:t>
            </a:r>
            <a:endParaRPr lang="en-US" sz="4000" dirty="0"/>
          </a:p>
        </p:txBody>
      </p:sp>
      <p:sp>
        <p:nvSpPr>
          <p:cNvPr id="8" name="text_174"/>
          <p:cNvSpPr txBox="1"/>
          <p:nvPr/>
        </p:nvSpPr>
        <p:spPr>
          <a:xfrm>
            <a:off x="2231136" y="2240280"/>
            <a:ext cx="1316736" cy="50292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Recall</a:t>
            </a:r>
            <a:endParaRPr lang="en-US" sz="1300" dirty="0"/>
          </a:p>
        </p:txBody>
      </p:sp>
      <p:sp>
        <p:nvSpPr>
          <p:cNvPr id="9" name="card_175"/>
          <p:cNvSpPr/>
          <p:nvPr/>
        </p:nvSpPr>
        <p:spPr>
          <a:xfrm>
            <a:off x="3822192" y="1234440"/>
            <a:ext cx="1499616" cy="1645920"/>
          </a:xfrm>
          <a:prstGeom prst="roundRect">
            <a:avLst>
              <a:gd name="adj" fmla="val 4878"/>
            </a:avLst>
          </a:prstGeom>
          <a:solidFill>
            <a:srgbClr val="13213A"/>
          </a:solidFill>
          <a:ln w="12700">
            <a:solidFill>
              <a:srgbClr val="13213A"/>
            </a:solidFill>
            <a:prstDash val="solid"/>
          </a:ln>
        </p:spPr>
      </p:sp>
      <p:sp>
        <p:nvSpPr>
          <p:cNvPr id="10" name="text_176"/>
          <p:cNvSpPr txBox="1"/>
          <p:nvPr/>
        </p:nvSpPr>
        <p:spPr>
          <a:xfrm>
            <a:off x="3822192" y="1417320"/>
            <a:ext cx="1499616" cy="731520"/>
          </a:xfrm>
          <a:prstGeom prst="rect">
            <a:avLst/>
          </a:prstGeom>
          <a:noFill/>
          <a:ln/>
        </p:spPr>
        <p:txBody>
          <a:bodyPr wrap="square" lIns="0" tIns="0" rIns="0" bIns="0" rtlCol="0" anchor="ctr"/>
          <a:lstStyle/>
          <a:p>
            <a:pPr algn="ctr" indent="0" marL="0">
              <a:buNone/>
            </a:pPr>
            <a:r>
              <a:rPr lang="en-US" sz="4000" b="1" dirty="0">
                <a:solidFill>
                  <a:srgbClr val="5EEAD4"/>
                </a:solidFill>
                <a:latin typeface="Calibri" pitchFamily="34" charset="0"/>
                <a:ea typeface="Calibri" pitchFamily="34" charset="-122"/>
                <a:cs typeface="Calibri" pitchFamily="34" charset="-120"/>
              </a:rPr>
              <a:t>0</a:t>
            </a:r>
            <a:endParaRPr lang="en-US" sz="4000" dirty="0"/>
          </a:p>
        </p:txBody>
      </p:sp>
      <p:sp>
        <p:nvSpPr>
          <p:cNvPr id="11" name="text_177"/>
          <p:cNvSpPr txBox="1"/>
          <p:nvPr/>
        </p:nvSpPr>
        <p:spPr>
          <a:xfrm>
            <a:off x="3913632" y="2240280"/>
            <a:ext cx="1316736" cy="50292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False positives</a:t>
            </a:r>
            <a:endParaRPr lang="en-US" sz="1300" dirty="0"/>
          </a:p>
        </p:txBody>
      </p:sp>
      <p:sp>
        <p:nvSpPr>
          <p:cNvPr id="12" name="card_178"/>
          <p:cNvSpPr/>
          <p:nvPr/>
        </p:nvSpPr>
        <p:spPr>
          <a:xfrm>
            <a:off x="5504688" y="1234440"/>
            <a:ext cx="1499616" cy="1645920"/>
          </a:xfrm>
          <a:prstGeom prst="roundRect">
            <a:avLst>
              <a:gd name="adj" fmla="val 4878"/>
            </a:avLst>
          </a:prstGeom>
          <a:solidFill>
            <a:srgbClr val="13213A"/>
          </a:solidFill>
          <a:ln w="12700">
            <a:solidFill>
              <a:srgbClr val="13213A"/>
            </a:solidFill>
            <a:prstDash val="solid"/>
          </a:ln>
        </p:spPr>
      </p:sp>
      <p:sp>
        <p:nvSpPr>
          <p:cNvPr id="13" name="text_179"/>
          <p:cNvSpPr txBox="1"/>
          <p:nvPr/>
        </p:nvSpPr>
        <p:spPr>
          <a:xfrm>
            <a:off x="5504688" y="1417320"/>
            <a:ext cx="1499616" cy="731520"/>
          </a:xfrm>
          <a:prstGeom prst="rect">
            <a:avLst/>
          </a:prstGeom>
          <a:noFill/>
          <a:ln/>
        </p:spPr>
        <p:txBody>
          <a:bodyPr wrap="square" lIns="0" tIns="0" rIns="0" bIns="0" rtlCol="0" anchor="ctr"/>
          <a:lstStyle/>
          <a:p>
            <a:pPr algn="ctr" indent="0" marL="0">
              <a:buNone/>
            </a:pPr>
            <a:r>
              <a:rPr lang="en-US" sz="4000" b="1" dirty="0">
                <a:solidFill>
                  <a:srgbClr val="5EEAD4"/>
                </a:solidFill>
                <a:latin typeface="Calibri" pitchFamily="34" charset="0"/>
                <a:ea typeface="Calibri" pitchFamily="34" charset="-122"/>
                <a:cs typeface="Calibri" pitchFamily="34" charset="-120"/>
              </a:rPr>
              <a:t>1.00</a:t>
            </a:r>
            <a:endParaRPr lang="en-US" sz="4000" dirty="0"/>
          </a:p>
        </p:txBody>
      </p:sp>
      <p:sp>
        <p:nvSpPr>
          <p:cNvPr id="14" name="text_180"/>
          <p:cNvSpPr txBox="1"/>
          <p:nvPr/>
        </p:nvSpPr>
        <p:spPr>
          <a:xfrm>
            <a:off x="5596128" y="2240280"/>
            <a:ext cx="1316736" cy="50292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Category exact match</a:t>
            </a:r>
            <a:endParaRPr lang="en-US" sz="1300" dirty="0"/>
          </a:p>
        </p:txBody>
      </p:sp>
      <p:sp>
        <p:nvSpPr>
          <p:cNvPr id="15" name="card_181"/>
          <p:cNvSpPr/>
          <p:nvPr/>
        </p:nvSpPr>
        <p:spPr>
          <a:xfrm>
            <a:off x="7187184" y="1234440"/>
            <a:ext cx="1499616" cy="1645920"/>
          </a:xfrm>
          <a:prstGeom prst="roundRect">
            <a:avLst>
              <a:gd name="adj" fmla="val 4878"/>
            </a:avLst>
          </a:prstGeom>
          <a:solidFill>
            <a:srgbClr val="13213A"/>
          </a:solidFill>
          <a:ln w="12700">
            <a:solidFill>
              <a:srgbClr val="13213A"/>
            </a:solidFill>
            <a:prstDash val="solid"/>
          </a:ln>
        </p:spPr>
      </p:sp>
      <p:sp>
        <p:nvSpPr>
          <p:cNvPr id="16" name="text_182"/>
          <p:cNvSpPr txBox="1"/>
          <p:nvPr/>
        </p:nvSpPr>
        <p:spPr>
          <a:xfrm>
            <a:off x="7187184" y="1417320"/>
            <a:ext cx="1499616" cy="731520"/>
          </a:xfrm>
          <a:prstGeom prst="rect">
            <a:avLst/>
          </a:prstGeom>
          <a:noFill/>
          <a:ln/>
        </p:spPr>
        <p:txBody>
          <a:bodyPr wrap="square" lIns="0" tIns="0" rIns="0" bIns="0" rtlCol="0" anchor="ctr"/>
          <a:lstStyle/>
          <a:p>
            <a:pPr algn="ctr" indent="0" marL="0">
              <a:buNone/>
            </a:pPr>
            <a:r>
              <a:rPr lang="en-US" sz="4000" b="1" dirty="0">
                <a:solidFill>
                  <a:srgbClr val="5EEAD4"/>
                </a:solidFill>
                <a:latin typeface="Calibri" pitchFamily="34" charset="0"/>
                <a:ea typeface="Calibri" pitchFamily="34" charset="-122"/>
                <a:cs typeface="Calibri" pitchFamily="34" charset="-120"/>
              </a:rPr>
              <a:t>1.00</a:t>
            </a:r>
            <a:endParaRPr lang="en-US" sz="4000" dirty="0"/>
          </a:p>
        </p:txBody>
      </p:sp>
      <p:sp>
        <p:nvSpPr>
          <p:cNvPr id="17" name="text_183"/>
          <p:cNvSpPr txBox="1"/>
          <p:nvPr/>
        </p:nvSpPr>
        <p:spPr>
          <a:xfrm>
            <a:off x="7278624" y="2240280"/>
            <a:ext cx="1316736" cy="50292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Language accuracy</a:t>
            </a:r>
            <a:endParaRPr lang="en-US" sz="1300" dirty="0"/>
          </a:p>
        </p:txBody>
      </p:sp>
      <p:sp>
        <p:nvSpPr>
          <p:cNvPr id="18" name="card_184"/>
          <p:cNvSpPr/>
          <p:nvPr/>
        </p:nvSpPr>
        <p:spPr>
          <a:xfrm>
            <a:off x="457200" y="3200400"/>
            <a:ext cx="8229600" cy="1097280"/>
          </a:xfrm>
          <a:prstGeom prst="roundRect">
            <a:avLst>
              <a:gd name="adj" fmla="val 6667"/>
            </a:avLst>
          </a:prstGeom>
          <a:solidFill>
            <a:srgbClr val="1B2D4F"/>
          </a:solidFill>
          <a:ln w="15875">
            <a:solidFill>
              <a:srgbClr val="F5B547"/>
            </a:solidFill>
            <a:prstDash val="solid"/>
          </a:ln>
        </p:spPr>
      </p:sp>
      <p:pic>
        <p:nvPicPr>
          <p:cNvPr id="19" name="devnote_icon" descr="note">    </p:cNvPr>
          <p:cNvPicPr>
            <a:picLocks noChangeAspect="1"/>
          </p:cNvPicPr>
          <p:nvPr/>
        </p:nvPicPr>
        <p:blipFill>
          <a:blip r:embed="rId1"/>
          <a:stretch>
            <a:fillRect/>
          </a:stretch>
        </p:blipFill>
        <p:spPr>
          <a:xfrm>
            <a:off x="685800" y="3520440"/>
            <a:ext cx="411480" cy="411480"/>
          </a:xfrm>
          <a:prstGeom prst="rect">
            <a:avLst/>
          </a:prstGeom>
        </p:spPr>
      </p:pic>
      <p:sp>
        <p:nvSpPr>
          <p:cNvPr id="20" name="text_185"/>
          <p:cNvSpPr txBox="1"/>
          <p:nvPr/>
        </p:nvSpPr>
        <p:spPr>
          <a:xfrm>
            <a:off x="1325880" y="3200400"/>
            <a:ext cx="7178040" cy="1097280"/>
          </a:xfrm>
          <a:prstGeom prst="rect">
            <a:avLst/>
          </a:prstGeom>
          <a:noFill/>
          <a:ln/>
        </p:spPr>
        <p:txBody>
          <a:bodyPr wrap="square" lIns="0" tIns="0" rIns="0" bIns="0" rtlCol="0" anchor="ctr"/>
          <a:lstStyle/>
          <a:p>
            <a:pPr indent="0" marL="0">
              <a:buNone/>
            </a:pPr>
            <a:r>
              <a:rPr lang="en-US" sz="1600" b="1" dirty="0">
                <a:solidFill>
                  <a:srgbClr val="F5B547"/>
                </a:solidFill>
                <a:latin typeface="Calibri" pitchFamily="34" charset="0"/>
                <a:ea typeface="Calibri" pitchFamily="34" charset="-122"/>
                <a:cs typeface="Calibri" pitchFamily="34" charset="-120"/>
              </a:rPr>
              <a:t>Public dev sample, 42 rows. </a:t>
            </a:r>
            <a:pPr indent="0" marL="0">
              <a:buNone/>
            </a:pPr>
            <a:r>
              <a:rPr lang="en-US" sz="1600" dirty="0">
                <a:solidFill>
                  <a:srgbClr val="E8EEF6"/>
                </a:solidFill>
                <a:latin typeface="Calibri" pitchFamily="34" charset="0"/>
                <a:ea typeface="Calibri" pitchFamily="34" charset="-122"/>
                <a:cs typeface="Calibri" pitchFamily="34" charset="-120"/>
              </a:rPr>
              <a:t>We used it to guide development, so it is not an independent test. The next slide shows brand-new code.</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On brand-new code: 95.2% verdict accuracy</a:t>
            </a:r>
            <a:endParaRPr lang="en-US" sz="2800" dirty="0"/>
          </a:p>
        </p:txBody>
      </p:sp>
      <p:sp>
        <p:nvSpPr>
          <p:cNvPr id="3" name="text_186"/>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300" dirty="0">
                <a:solidFill>
                  <a:srgbClr val="93A4BD"/>
                </a:solidFill>
                <a:latin typeface="Calibri" pitchFamily="34" charset="0"/>
                <a:ea typeface="Calibri" pitchFamily="34" charset="-122"/>
                <a:cs typeface="Calibri" pitchFamily="34" charset="-120"/>
              </a:rPr>
              <a:t>2 blind files  ·  125 snippets  ·  predictions saved BEFORE the expected outputs were read</a:t>
            </a:r>
            <a:endParaRPr lang="en-US" sz="1300" dirty="0"/>
          </a:p>
        </p:txBody>
      </p:sp>
      <p:graphicFrame>
        <p:nvGraphicFramePr>
          <p:cNvPr id="4" name="fresh_chart" descr=""/>
          <p:cNvGraphicFramePr/>
          <p:nvPr/>
        </p:nvGraphicFramePr>
        <p:xfrm>
          <a:off x="365760" y="1280160"/>
          <a:ext cx="4114800" cy="2834640"/>
        </p:xfrm>
        <a:graphic xmlns:a="http://schemas.openxmlformats.org/drawingml/2006/main">
          <a:graphicData uri="http://schemas.openxmlformats.org/drawingml/2006/chart">
            <c:chart xmlns:c="http://schemas.openxmlformats.org/drawingml/2006/chart" r:id="rId1"/>
          </a:graphicData>
        </a:graphic>
      </p:graphicFrame>
      <p:sp>
        <p:nvSpPr>
          <p:cNvPr id="5" name="card_187"/>
          <p:cNvSpPr/>
          <p:nvPr/>
        </p:nvSpPr>
        <p:spPr>
          <a:xfrm>
            <a:off x="4709160" y="1280160"/>
            <a:ext cx="3977640" cy="1097280"/>
          </a:xfrm>
          <a:prstGeom prst="roundRect">
            <a:avLst>
              <a:gd name="adj" fmla="val 6667"/>
            </a:avLst>
          </a:prstGeom>
          <a:solidFill>
            <a:srgbClr val="13213A"/>
          </a:solidFill>
          <a:ln w="19050">
            <a:solidFill>
              <a:srgbClr val="14B8A6"/>
            </a:solidFill>
            <a:prstDash val="solid"/>
          </a:ln>
        </p:spPr>
      </p:sp>
      <p:sp>
        <p:nvSpPr>
          <p:cNvPr id="6" name="text_188"/>
          <p:cNvSpPr txBox="1"/>
          <p:nvPr/>
        </p:nvSpPr>
        <p:spPr>
          <a:xfrm>
            <a:off x="4892040" y="1325880"/>
            <a:ext cx="2011680" cy="1005840"/>
          </a:xfrm>
          <a:prstGeom prst="rect">
            <a:avLst/>
          </a:prstGeom>
          <a:noFill/>
          <a:ln/>
        </p:spPr>
        <p:txBody>
          <a:bodyPr wrap="square" lIns="0" tIns="0" rIns="0" bIns="0" rtlCol="0" anchor="ctr"/>
          <a:lstStyle/>
          <a:p>
            <a:pPr indent="0" marL="0">
              <a:buNone/>
            </a:pPr>
            <a:r>
              <a:rPr lang="en-US" sz="4400" b="1" dirty="0">
                <a:solidFill>
                  <a:srgbClr val="5EEAD4"/>
                </a:solidFill>
                <a:latin typeface="Calibri" pitchFamily="34" charset="0"/>
                <a:ea typeface="Calibri" pitchFamily="34" charset="-122"/>
                <a:cs typeface="Calibri" pitchFamily="34" charset="-120"/>
              </a:rPr>
              <a:t>95.2%</a:t>
            </a:r>
            <a:endParaRPr lang="en-US" sz="4400" dirty="0"/>
          </a:p>
        </p:txBody>
      </p:sp>
      <p:sp>
        <p:nvSpPr>
          <p:cNvPr id="7" name="text_189"/>
          <p:cNvSpPr txBox="1"/>
          <p:nvPr/>
        </p:nvSpPr>
        <p:spPr>
          <a:xfrm>
            <a:off x="6858000" y="1325880"/>
            <a:ext cx="1783080" cy="100584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verdict accuracy</a:t>
            </a:r>
            <a:endParaRPr lang="en-US" sz="1400" dirty="0"/>
          </a:p>
          <a:p>
            <a:pPr indent="0" marL="0">
              <a:buNone/>
            </a:pPr>
            <a:r>
              <a:rPr lang="en-US" sz="1400" dirty="0">
                <a:solidFill>
                  <a:srgbClr val="93A4BD"/>
                </a:solidFill>
                <a:latin typeface="Calibri" pitchFamily="34" charset="0"/>
                <a:ea typeface="Calibri" pitchFamily="34" charset="-122"/>
                <a:cs typeface="Calibri" pitchFamily="34" charset="-120"/>
              </a:rPr>
              <a:t>119 of 125 correct</a:t>
            </a:r>
            <a:endParaRPr lang="en-US" sz="1400" dirty="0"/>
          </a:p>
        </p:txBody>
      </p:sp>
      <p:sp>
        <p:nvSpPr>
          <p:cNvPr id="8" name="card_190"/>
          <p:cNvSpPr/>
          <p:nvPr/>
        </p:nvSpPr>
        <p:spPr>
          <a:xfrm>
            <a:off x="4709160" y="2514600"/>
            <a:ext cx="1943100" cy="713232"/>
          </a:xfrm>
          <a:prstGeom prst="roundRect">
            <a:avLst>
              <a:gd name="adj" fmla="val 10256"/>
            </a:avLst>
          </a:prstGeom>
          <a:solidFill>
            <a:srgbClr val="13213A"/>
          </a:solidFill>
          <a:ln w="12700">
            <a:solidFill>
              <a:srgbClr val="13213A"/>
            </a:solidFill>
            <a:prstDash val="solid"/>
          </a:ln>
        </p:spPr>
      </p:sp>
      <p:sp>
        <p:nvSpPr>
          <p:cNvPr id="9" name="text_191"/>
          <p:cNvSpPr txBox="1"/>
          <p:nvPr/>
        </p:nvSpPr>
        <p:spPr>
          <a:xfrm>
            <a:off x="4846320" y="2569464"/>
            <a:ext cx="1737360" cy="365760"/>
          </a:xfrm>
          <a:prstGeom prst="rect">
            <a:avLst/>
          </a:prstGeom>
          <a:noFill/>
          <a:ln/>
        </p:spPr>
        <p:txBody>
          <a:bodyPr wrap="square" lIns="0" tIns="0" rIns="0" bIns="0" rtlCol="0" anchor="t"/>
          <a:lstStyle/>
          <a:p>
            <a:pPr indent="0" marL="0">
              <a:buNone/>
            </a:pPr>
            <a:r>
              <a:rPr lang="en-US" sz="2000" b="1" dirty="0">
                <a:solidFill>
                  <a:srgbClr val="E8EEF6"/>
                </a:solidFill>
                <a:latin typeface="Calibri" pitchFamily="34" charset="0"/>
                <a:ea typeface="Calibri" pitchFamily="34" charset="-122"/>
                <a:cs typeface="Calibri" pitchFamily="34" charset="-120"/>
              </a:rPr>
              <a:t>95.5%</a:t>
            </a:r>
            <a:endParaRPr lang="en-US" sz="2000" dirty="0"/>
          </a:p>
        </p:txBody>
      </p:sp>
      <p:sp>
        <p:nvSpPr>
          <p:cNvPr id="10" name="text_192"/>
          <p:cNvSpPr txBox="1"/>
          <p:nvPr/>
        </p:nvSpPr>
        <p:spPr>
          <a:xfrm>
            <a:off x="4846320" y="2926080"/>
            <a:ext cx="1737360" cy="256032"/>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precision</a:t>
            </a:r>
            <a:endParaRPr lang="en-US" sz="1100" dirty="0"/>
          </a:p>
        </p:txBody>
      </p:sp>
      <p:sp>
        <p:nvSpPr>
          <p:cNvPr id="11" name="card_193"/>
          <p:cNvSpPr/>
          <p:nvPr/>
        </p:nvSpPr>
        <p:spPr>
          <a:xfrm>
            <a:off x="6743700" y="2514600"/>
            <a:ext cx="1943100" cy="713232"/>
          </a:xfrm>
          <a:prstGeom prst="roundRect">
            <a:avLst>
              <a:gd name="adj" fmla="val 10256"/>
            </a:avLst>
          </a:prstGeom>
          <a:solidFill>
            <a:srgbClr val="13213A"/>
          </a:solidFill>
          <a:ln w="12700">
            <a:solidFill>
              <a:srgbClr val="13213A"/>
            </a:solidFill>
            <a:prstDash val="solid"/>
          </a:ln>
        </p:spPr>
      </p:sp>
      <p:sp>
        <p:nvSpPr>
          <p:cNvPr id="12" name="text_194"/>
          <p:cNvSpPr txBox="1"/>
          <p:nvPr/>
        </p:nvSpPr>
        <p:spPr>
          <a:xfrm>
            <a:off x="6880860" y="2569464"/>
            <a:ext cx="1737360" cy="365760"/>
          </a:xfrm>
          <a:prstGeom prst="rect">
            <a:avLst/>
          </a:prstGeom>
          <a:noFill/>
          <a:ln/>
        </p:spPr>
        <p:txBody>
          <a:bodyPr wrap="square" lIns="0" tIns="0" rIns="0" bIns="0" rtlCol="0" anchor="t"/>
          <a:lstStyle/>
          <a:p>
            <a:pPr indent="0" marL="0">
              <a:buNone/>
            </a:pPr>
            <a:r>
              <a:rPr lang="en-US" sz="2000" b="1" dirty="0">
                <a:solidFill>
                  <a:srgbClr val="E8EEF6"/>
                </a:solidFill>
                <a:latin typeface="Calibri" pitchFamily="34" charset="0"/>
                <a:ea typeface="Calibri" pitchFamily="34" charset="-122"/>
                <a:cs typeface="Calibri" pitchFamily="34" charset="-120"/>
              </a:rPr>
              <a:t>97.7%</a:t>
            </a:r>
            <a:endParaRPr lang="en-US" sz="2000" dirty="0"/>
          </a:p>
        </p:txBody>
      </p:sp>
      <p:sp>
        <p:nvSpPr>
          <p:cNvPr id="13" name="text_195"/>
          <p:cNvSpPr txBox="1"/>
          <p:nvPr/>
        </p:nvSpPr>
        <p:spPr>
          <a:xfrm>
            <a:off x="6880860" y="2926080"/>
            <a:ext cx="1737360" cy="256032"/>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recall</a:t>
            </a:r>
            <a:endParaRPr lang="en-US" sz="1100" dirty="0"/>
          </a:p>
        </p:txBody>
      </p:sp>
      <p:sp>
        <p:nvSpPr>
          <p:cNvPr id="14" name="card_196"/>
          <p:cNvSpPr/>
          <p:nvPr/>
        </p:nvSpPr>
        <p:spPr>
          <a:xfrm>
            <a:off x="4709160" y="3337560"/>
            <a:ext cx="1943100" cy="713232"/>
          </a:xfrm>
          <a:prstGeom prst="roundRect">
            <a:avLst>
              <a:gd name="adj" fmla="val 10256"/>
            </a:avLst>
          </a:prstGeom>
          <a:solidFill>
            <a:srgbClr val="13213A"/>
          </a:solidFill>
          <a:ln w="12700">
            <a:solidFill>
              <a:srgbClr val="13213A"/>
            </a:solidFill>
            <a:prstDash val="solid"/>
          </a:ln>
        </p:spPr>
      </p:sp>
      <p:sp>
        <p:nvSpPr>
          <p:cNvPr id="15" name="text_197"/>
          <p:cNvSpPr txBox="1"/>
          <p:nvPr/>
        </p:nvSpPr>
        <p:spPr>
          <a:xfrm>
            <a:off x="4846320" y="3392424"/>
            <a:ext cx="1737360" cy="365760"/>
          </a:xfrm>
          <a:prstGeom prst="rect">
            <a:avLst/>
          </a:prstGeom>
          <a:noFill/>
          <a:ln/>
        </p:spPr>
        <p:txBody>
          <a:bodyPr wrap="square" lIns="0" tIns="0" rIns="0" bIns="0" rtlCol="0" anchor="t"/>
          <a:lstStyle/>
          <a:p>
            <a:pPr indent="0" marL="0">
              <a:buNone/>
            </a:pPr>
            <a:r>
              <a:rPr lang="en-US" sz="2000" b="1" dirty="0">
                <a:solidFill>
                  <a:srgbClr val="F5B547"/>
                </a:solidFill>
                <a:latin typeface="Calibri" pitchFamily="34" charset="0"/>
                <a:ea typeface="Calibri" pitchFamily="34" charset="-122"/>
                <a:cs typeface="Calibri" pitchFamily="34" charset="-120"/>
              </a:rPr>
              <a:t>4 / 38</a:t>
            </a:r>
            <a:endParaRPr lang="en-US" sz="2000" dirty="0"/>
          </a:p>
        </p:txBody>
      </p:sp>
      <p:sp>
        <p:nvSpPr>
          <p:cNvPr id="16" name="text_198"/>
          <p:cNvSpPr txBox="1"/>
          <p:nvPr/>
        </p:nvSpPr>
        <p:spPr>
          <a:xfrm>
            <a:off x="4846320" y="3749040"/>
            <a:ext cx="1737360" cy="256032"/>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benign flagged (10.5%)</a:t>
            </a:r>
            <a:endParaRPr lang="en-US" sz="1100" dirty="0"/>
          </a:p>
        </p:txBody>
      </p:sp>
      <p:sp>
        <p:nvSpPr>
          <p:cNvPr id="17" name="card_199"/>
          <p:cNvSpPr/>
          <p:nvPr/>
        </p:nvSpPr>
        <p:spPr>
          <a:xfrm>
            <a:off x="6743700" y="3337560"/>
            <a:ext cx="1943100" cy="713232"/>
          </a:xfrm>
          <a:prstGeom prst="roundRect">
            <a:avLst>
              <a:gd name="adj" fmla="val 10256"/>
            </a:avLst>
          </a:prstGeom>
          <a:solidFill>
            <a:srgbClr val="13213A"/>
          </a:solidFill>
          <a:ln w="12700">
            <a:solidFill>
              <a:srgbClr val="13213A"/>
            </a:solidFill>
            <a:prstDash val="solid"/>
          </a:ln>
        </p:spPr>
      </p:sp>
      <p:sp>
        <p:nvSpPr>
          <p:cNvPr id="18" name="text_200"/>
          <p:cNvSpPr txBox="1"/>
          <p:nvPr/>
        </p:nvSpPr>
        <p:spPr>
          <a:xfrm>
            <a:off x="6880860" y="3392424"/>
            <a:ext cx="1737360" cy="365760"/>
          </a:xfrm>
          <a:prstGeom prst="rect">
            <a:avLst/>
          </a:prstGeom>
          <a:noFill/>
          <a:ln/>
        </p:spPr>
        <p:txBody>
          <a:bodyPr wrap="square" lIns="0" tIns="0" rIns="0" bIns="0" rtlCol="0" anchor="t"/>
          <a:lstStyle/>
          <a:p>
            <a:pPr indent="0" marL="0">
              <a:buNone/>
            </a:pPr>
            <a:r>
              <a:rPr lang="en-US" sz="2000" b="1" dirty="0">
                <a:solidFill>
                  <a:srgbClr val="F5B547"/>
                </a:solidFill>
                <a:latin typeface="Calibri" pitchFamily="34" charset="0"/>
                <a:ea typeface="Calibri" pitchFamily="34" charset="-122"/>
                <a:cs typeface="Calibri" pitchFamily="34" charset="-120"/>
              </a:rPr>
              <a:t>2 / 87</a:t>
            </a:r>
            <a:endParaRPr lang="en-US" sz="2000" dirty="0"/>
          </a:p>
        </p:txBody>
      </p:sp>
      <p:sp>
        <p:nvSpPr>
          <p:cNvPr id="19" name="text_201"/>
          <p:cNvSpPr txBox="1"/>
          <p:nvPr/>
        </p:nvSpPr>
        <p:spPr>
          <a:xfrm>
            <a:off x="6880860" y="3749040"/>
            <a:ext cx="1737360" cy="256032"/>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attacks missed</a:t>
            </a:r>
            <a:endParaRPr lang="en-US" sz="1100" dirty="0"/>
          </a:p>
        </p:txBody>
      </p:sp>
      <p:sp>
        <p:nvSpPr>
          <p:cNvPr id="20" name="card_202"/>
          <p:cNvSpPr/>
          <p:nvPr/>
        </p:nvSpPr>
        <p:spPr>
          <a:xfrm>
            <a:off x="457200" y="4206240"/>
            <a:ext cx="4023360" cy="411480"/>
          </a:xfrm>
          <a:prstGeom prst="roundRect">
            <a:avLst>
              <a:gd name="adj" fmla="val 17778"/>
            </a:avLst>
          </a:prstGeom>
          <a:solidFill>
            <a:srgbClr val="1B2D4F"/>
          </a:solidFill>
          <a:ln w="12700">
            <a:solidFill>
              <a:srgbClr val="1B2D4F"/>
            </a:solidFill>
            <a:prstDash val="solid"/>
          </a:ln>
        </p:spPr>
      </p:sp>
      <p:sp>
        <p:nvSpPr>
          <p:cNvPr id="21" name="text_203"/>
          <p:cNvSpPr txBox="1"/>
          <p:nvPr/>
        </p:nvSpPr>
        <p:spPr>
          <a:xfrm>
            <a:off x="548640" y="4206240"/>
            <a:ext cx="3886200" cy="411480"/>
          </a:xfrm>
          <a:prstGeom prst="rect">
            <a:avLst/>
          </a:prstGeom>
          <a:noFill/>
          <a:ln/>
        </p:spPr>
        <p:txBody>
          <a:bodyPr wrap="square" lIns="0" tIns="0" rIns="0" bIns="0" rtlCol="0" anchor="ctr"/>
          <a:lstStyle/>
          <a:p>
            <a:pPr indent="0" marL="0">
              <a:buNone/>
            </a:pPr>
            <a:r>
              <a:rPr lang="en-US" sz="1100" dirty="0">
                <a:solidFill>
                  <a:srgbClr val="E8EEF6"/>
                </a:solidFill>
                <a:latin typeface="Calibri" pitchFamily="34" charset="0"/>
                <a:ea typeface="Calibri" pitchFamily="34" charset="-122"/>
                <a:cs typeface="Calibri" pitchFamily="34" charset="-120"/>
              </a:rPr>
              <a:t>Exact category sets 80% (100/125) · category P/R ≈ 0.89 / 0.85</a:t>
            </a:r>
            <a:endParaRPr lang="en-US" sz="1100" dirty="0"/>
          </a:p>
        </p:txBody>
      </p:sp>
      <p:sp>
        <p:nvSpPr>
          <p:cNvPr id="22" name="card_204"/>
          <p:cNvSpPr/>
          <p:nvPr/>
        </p:nvSpPr>
        <p:spPr>
          <a:xfrm>
            <a:off x="4709160" y="4206240"/>
            <a:ext cx="3977640" cy="411480"/>
          </a:xfrm>
          <a:prstGeom prst="roundRect">
            <a:avLst>
              <a:gd name="adj" fmla="val 17778"/>
            </a:avLst>
          </a:prstGeom>
          <a:solidFill>
            <a:srgbClr val="1B2D4F"/>
          </a:solidFill>
          <a:ln w="12700">
            <a:solidFill>
              <a:srgbClr val="1B2D4F"/>
            </a:solidFill>
            <a:prstDash val="solid"/>
          </a:ln>
        </p:spPr>
      </p:sp>
      <p:sp>
        <p:nvSpPr>
          <p:cNvPr id="23" name="text_205"/>
          <p:cNvSpPr txBox="1"/>
          <p:nvPr/>
        </p:nvSpPr>
        <p:spPr>
          <a:xfrm>
            <a:off x="4800600" y="4206240"/>
            <a:ext cx="3840480" cy="411480"/>
          </a:xfrm>
          <a:prstGeom prst="rect">
            <a:avLst/>
          </a:prstGeom>
          <a:noFill/>
          <a:ln/>
        </p:spPr>
        <p:txBody>
          <a:bodyPr wrap="square" lIns="0" tIns="0" rIns="0" bIns="0" rtlCol="0" anchor="ctr"/>
          <a:lstStyle/>
          <a:p>
            <a:pPr indent="0" marL="0">
              <a:buNone/>
            </a:pPr>
            <a:r>
              <a:rPr lang="en-US" sz="1100" dirty="0">
                <a:solidFill>
                  <a:srgbClr val="E8EEF6"/>
                </a:solidFill>
                <a:latin typeface="Calibri" pitchFamily="34" charset="0"/>
                <a:ea typeface="Calibri" pitchFamily="34" charset="-122"/>
                <a:cs typeface="Calibri" pitchFamily="34" charset="-120"/>
              </a:rPr>
              <a:t>Public corpus: 42/46 must-flag caught · 40/43 must-allow allowed</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Built to generalise, not to memorise the dev set</a:t>
            </a:r>
            <a:endParaRPr lang="en-US" sz="2800" dirty="0"/>
          </a:p>
        </p:txBody>
      </p:sp>
      <p:sp>
        <p:nvSpPr>
          <p:cNvPr id="3" name="card_206"/>
          <p:cNvSpPr/>
          <p:nvPr/>
        </p:nvSpPr>
        <p:spPr>
          <a:xfrm>
            <a:off x="457200" y="1143000"/>
            <a:ext cx="4114800" cy="914400"/>
          </a:xfrm>
          <a:prstGeom prst="roundRect">
            <a:avLst>
              <a:gd name="adj" fmla="val 8000"/>
            </a:avLst>
          </a:prstGeom>
          <a:solidFill>
            <a:srgbClr val="13213A"/>
          </a:solidFill>
          <a:ln w="12700">
            <a:solidFill>
              <a:srgbClr val="13213A"/>
            </a:solidFill>
            <a:prstDash val="solid"/>
          </a:ln>
        </p:spPr>
      </p:sp>
      <p:pic>
        <p:nvPicPr>
          <p:cNvPr id="4" name="pracicon_207" descr="Dev sample = test set only">    </p:cNvPr>
          <p:cNvPicPr>
            <a:picLocks noChangeAspect="1"/>
          </p:cNvPicPr>
          <p:nvPr/>
        </p:nvPicPr>
        <p:blipFill>
          <a:blip r:embed="rId1"/>
          <a:stretch>
            <a:fillRect/>
          </a:stretch>
        </p:blipFill>
        <p:spPr>
          <a:xfrm>
            <a:off x="640080" y="1417320"/>
            <a:ext cx="347472" cy="347472"/>
          </a:xfrm>
          <a:prstGeom prst="rect">
            <a:avLst/>
          </a:prstGeom>
        </p:spPr>
      </p:pic>
      <p:sp>
        <p:nvSpPr>
          <p:cNvPr id="5" name="text_208"/>
          <p:cNvSpPr txBox="1"/>
          <p:nvPr/>
        </p:nvSpPr>
        <p:spPr>
          <a:xfrm>
            <a:off x="1188720" y="1271016"/>
            <a:ext cx="329184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Dev sample = test set only</a:t>
            </a:r>
            <a:endParaRPr lang="en-US" sz="1500" dirty="0"/>
          </a:p>
        </p:txBody>
      </p:sp>
      <p:sp>
        <p:nvSpPr>
          <p:cNvPr id="6" name="text_209"/>
          <p:cNvSpPr txBox="1"/>
          <p:nvPr/>
        </p:nvSpPr>
        <p:spPr>
          <a:xfrm>
            <a:off x="1188720" y="1600200"/>
            <a:ext cx="329184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No dev text in rules or training data</a:t>
            </a:r>
            <a:endParaRPr lang="en-US" sz="1200" dirty="0"/>
          </a:p>
        </p:txBody>
      </p:sp>
      <p:sp>
        <p:nvSpPr>
          <p:cNvPr id="7" name="card_210"/>
          <p:cNvSpPr/>
          <p:nvPr/>
        </p:nvSpPr>
        <p:spPr>
          <a:xfrm>
            <a:off x="457200" y="2194560"/>
            <a:ext cx="4114800" cy="914400"/>
          </a:xfrm>
          <a:prstGeom prst="roundRect">
            <a:avLst>
              <a:gd name="adj" fmla="val 8000"/>
            </a:avLst>
          </a:prstGeom>
          <a:solidFill>
            <a:srgbClr val="13213A"/>
          </a:solidFill>
          <a:ln w="12700">
            <a:solidFill>
              <a:srgbClr val="13213A"/>
            </a:solidFill>
            <a:prstDash val="solid"/>
          </a:ln>
        </p:spPr>
      </p:sp>
      <p:pic>
        <p:nvPicPr>
          <p:cNvPr id="8" name="pracicon_211" descr="Every fix becomes a mechanism">    </p:cNvPr>
          <p:cNvPicPr>
            <a:picLocks noChangeAspect="1"/>
          </p:cNvPicPr>
          <p:nvPr/>
        </p:nvPicPr>
        <p:blipFill>
          <a:blip r:embed="rId2"/>
          <a:stretch>
            <a:fillRect/>
          </a:stretch>
        </p:blipFill>
        <p:spPr>
          <a:xfrm>
            <a:off x="640080" y="2468880"/>
            <a:ext cx="347472" cy="347472"/>
          </a:xfrm>
          <a:prstGeom prst="rect">
            <a:avLst/>
          </a:prstGeom>
        </p:spPr>
      </p:pic>
      <p:sp>
        <p:nvSpPr>
          <p:cNvPr id="9" name="text_212"/>
          <p:cNvSpPr txBox="1"/>
          <p:nvPr/>
        </p:nvSpPr>
        <p:spPr>
          <a:xfrm>
            <a:off x="1188720" y="2322576"/>
            <a:ext cx="329184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Every fix becomes a mechanism</a:t>
            </a:r>
            <a:endParaRPr lang="en-US" sz="1500" dirty="0"/>
          </a:p>
        </p:txBody>
      </p:sp>
      <p:sp>
        <p:nvSpPr>
          <p:cNvPr id="10" name="text_213"/>
          <p:cNvSpPr txBox="1"/>
          <p:nvPr/>
        </p:nvSpPr>
        <p:spPr>
          <a:xfrm>
            <a:off x="1188720" y="2651760"/>
            <a:ext cx="329184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Each with a benign twin: 170 regression cases</a:t>
            </a:r>
            <a:endParaRPr lang="en-US" sz="1200" dirty="0"/>
          </a:p>
        </p:txBody>
      </p:sp>
      <p:sp>
        <p:nvSpPr>
          <p:cNvPr id="11" name="card_214"/>
          <p:cNvSpPr/>
          <p:nvPr/>
        </p:nvSpPr>
        <p:spPr>
          <a:xfrm>
            <a:off x="457200" y="3246120"/>
            <a:ext cx="4114800" cy="914400"/>
          </a:xfrm>
          <a:prstGeom prst="roundRect">
            <a:avLst>
              <a:gd name="adj" fmla="val 8000"/>
            </a:avLst>
          </a:prstGeom>
          <a:solidFill>
            <a:srgbClr val="13213A"/>
          </a:solidFill>
          <a:ln w="12700">
            <a:solidFill>
              <a:srgbClr val="13213A"/>
            </a:solidFill>
            <a:prstDash val="solid"/>
          </a:ln>
        </p:spPr>
      </p:sp>
      <p:pic>
        <p:nvPicPr>
          <p:cNvPr id="12" name="pracicon_215" descr="Blind files rotate">    </p:cNvPr>
          <p:cNvPicPr>
            <a:picLocks noChangeAspect="1"/>
          </p:cNvPicPr>
          <p:nvPr/>
        </p:nvPicPr>
        <p:blipFill>
          <a:blip r:embed="rId3"/>
          <a:stretch>
            <a:fillRect/>
          </a:stretch>
        </p:blipFill>
        <p:spPr>
          <a:xfrm>
            <a:off x="640080" y="3520440"/>
            <a:ext cx="347472" cy="347472"/>
          </a:xfrm>
          <a:prstGeom prst="rect">
            <a:avLst/>
          </a:prstGeom>
        </p:spPr>
      </p:pic>
      <p:sp>
        <p:nvSpPr>
          <p:cNvPr id="13" name="text_216"/>
          <p:cNvSpPr txBox="1"/>
          <p:nvPr/>
        </p:nvSpPr>
        <p:spPr>
          <a:xfrm>
            <a:off x="1188720" y="3374136"/>
            <a:ext cx="3291840" cy="320040"/>
          </a:xfrm>
          <a:prstGeom prst="rect">
            <a:avLst/>
          </a:prstGeom>
          <a:noFill/>
          <a:ln/>
        </p:spPr>
        <p:txBody>
          <a:bodyPr wrap="square" lIns="0" tIns="0" rIns="0" bIns="0" rtlCol="0" anchor="t"/>
          <a:lstStyle/>
          <a:p>
            <a:pPr indent="0" marL="0">
              <a:buNone/>
            </a:pPr>
            <a:r>
              <a:rPr lang="en-US" sz="1500" b="1" dirty="0">
                <a:solidFill>
                  <a:srgbClr val="E8EEF6"/>
                </a:solidFill>
                <a:latin typeface="Calibri" pitchFamily="34" charset="0"/>
                <a:ea typeface="Calibri" pitchFamily="34" charset="-122"/>
                <a:cs typeface="Calibri" pitchFamily="34" charset="-120"/>
              </a:rPr>
              <a:t>Blind files rotate</a:t>
            </a:r>
            <a:endParaRPr lang="en-US" sz="1500" dirty="0"/>
          </a:p>
        </p:txBody>
      </p:sp>
      <p:sp>
        <p:nvSpPr>
          <p:cNvPr id="14" name="text_217"/>
          <p:cNvSpPr txBox="1"/>
          <p:nvPr/>
        </p:nvSpPr>
        <p:spPr>
          <a:xfrm>
            <a:off x="1188720" y="3703320"/>
            <a:ext cx="3291840" cy="36576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Scored first, then used for development; a new one is requested</a:t>
            </a:r>
            <a:endParaRPr lang="en-US" sz="1200" dirty="0"/>
          </a:p>
        </p:txBody>
      </p:sp>
      <p:sp>
        <p:nvSpPr>
          <p:cNvPr id="15" name="card_218"/>
          <p:cNvSpPr/>
          <p:nvPr/>
        </p:nvSpPr>
        <p:spPr>
          <a:xfrm>
            <a:off x="4846320" y="1143000"/>
            <a:ext cx="3840480" cy="1051560"/>
          </a:xfrm>
          <a:prstGeom prst="roundRect">
            <a:avLst>
              <a:gd name="adj" fmla="val 6957"/>
            </a:avLst>
          </a:prstGeom>
          <a:solidFill>
            <a:srgbClr val="13213A"/>
          </a:solidFill>
          <a:ln w="15875">
            <a:solidFill>
              <a:srgbClr val="14B8A6"/>
            </a:solidFill>
            <a:prstDash val="solid"/>
          </a:ln>
        </p:spPr>
      </p:sp>
      <p:sp>
        <p:nvSpPr>
          <p:cNvPr id="16" name="text_219"/>
          <p:cNvSpPr txBox="1"/>
          <p:nvPr/>
        </p:nvSpPr>
        <p:spPr>
          <a:xfrm>
            <a:off x="5029200" y="1188720"/>
            <a:ext cx="3474720" cy="548640"/>
          </a:xfrm>
          <a:prstGeom prst="rect">
            <a:avLst/>
          </a:prstGeom>
          <a:noFill/>
          <a:ln/>
        </p:spPr>
        <p:txBody>
          <a:bodyPr wrap="square" lIns="0" tIns="0" rIns="0" bIns="0" rtlCol="0" anchor="ctr"/>
          <a:lstStyle/>
          <a:p>
            <a:pPr indent="0" marL="0">
              <a:buNone/>
            </a:pPr>
            <a:r>
              <a:rPr lang="en-US" sz="3000" b="1" dirty="0">
                <a:solidFill>
                  <a:srgbClr val="5EEAD4"/>
                </a:solidFill>
                <a:latin typeface="Calibri" pitchFamily="34" charset="0"/>
                <a:ea typeface="Calibri" pitchFamily="34" charset="-122"/>
                <a:cs typeface="Calibri" pitchFamily="34" charset="-120"/>
              </a:rPr>
              <a:t>1,016 → 0</a:t>
            </a:r>
            <a:endParaRPr lang="en-US" sz="3000" dirty="0"/>
          </a:p>
        </p:txBody>
      </p:sp>
      <p:sp>
        <p:nvSpPr>
          <p:cNvPr id="17" name="text_220"/>
          <p:cNvSpPr txBox="1"/>
          <p:nvPr/>
        </p:nvSpPr>
        <p:spPr>
          <a:xfrm>
            <a:off x="5029200" y="1719072"/>
            <a:ext cx="3566160" cy="41148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behaviour-preserving rewrites (rename, noise, wrap, alias, hoist) → verdicts changed</a:t>
            </a:r>
            <a:endParaRPr lang="en-US" sz="1100" dirty="0"/>
          </a:p>
        </p:txBody>
      </p:sp>
      <p:graphicFrame>
        <p:nvGraphicFramePr>
          <p:cNvPr id="18" name="fp_chart" descr=""/>
          <p:cNvGraphicFramePr/>
          <p:nvPr/>
        </p:nvGraphicFramePr>
        <p:xfrm>
          <a:off x="4754880" y="2286000"/>
          <a:ext cx="3977640" cy="1783080"/>
        </p:xfrm>
        <a:graphic xmlns:a="http://schemas.openxmlformats.org/drawingml/2006/main">
          <a:graphicData uri="http://schemas.openxmlformats.org/drawingml/2006/chart">
            <c:chart xmlns:c="http://schemas.openxmlformats.org/drawingml/2006/chart" r:id="rId4"/>
          </a:graphicData>
        </a:graphic>
      </p:graphicFrame>
      <p:sp>
        <p:nvSpPr>
          <p:cNvPr id="19" name="text_221"/>
          <p:cNvSpPr txBox="1"/>
          <p:nvPr/>
        </p:nvSpPr>
        <p:spPr>
          <a:xfrm>
            <a:off x="4846320" y="4114800"/>
            <a:ext cx="3840480" cy="365760"/>
          </a:xfrm>
          <a:prstGeom prst="rect">
            <a:avLst/>
          </a:prstGeom>
          <a:noFill/>
          <a:ln/>
        </p:spPr>
        <p:txBody>
          <a:bodyPr wrap="square" lIns="0" tIns="0" rIns="0" bIns="0" rtlCol="0" anchor="t"/>
          <a:lstStyle/>
          <a:p>
            <a:pPr indent="0" marL="0">
              <a:buNone/>
            </a:pPr>
            <a:r>
              <a:rPr lang="en-US" sz="1100" i="1" dirty="0">
                <a:solidFill>
                  <a:srgbClr val="93A4BD"/>
                </a:solidFill>
                <a:latin typeface="Calibri" pitchFamily="34" charset="0"/>
                <a:ea typeface="Calibri" pitchFamily="34" charset="-122"/>
                <a:cs typeface="Calibri" pitchFamily="34" charset="-120"/>
              </a:rPr>
              <a:t>Mostly genuine dual-use code, such as eval and dynamic import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About 2 ms per snippet on a laptop CPU</a:t>
            </a:r>
            <a:endParaRPr lang="en-US" sz="2800" dirty="0"/>
          </a:p>
        </p:txBody>
      </p:sp>
      <p:sp>
        <p:nvSpPr>
          <p:cNvPr id="3" name="card_222"/>
          <p:cNvSpPr/>
          <p:nvPr/>
        </p:nvSpPr>
        <p:spPr>
          <a:xfrm>
            <a:off x="457200" y="1097280"/>
            <a:ext cx="1920240" cy="1234440"/>
          </a:xfrm>
          <a:prstGeom prst="roundRect">
            <a:avLst>
              <a:gd name="adj" fmla="val 5926"/>
            </a:avLst>
          </a:prstGeom>
          <a:solidFill>
            <a:srgbClr val="13213A"/>
          </a:solidFill>
          <a:ln w="12700">
            <a:solidFill>
              <a:srgbClr val="13213A"/>
            </a:solidFill>
            <a:prstDash val="solid"/>
          </a:ln>
        </p:spPr>
      </p:sp>
      <p:sp>
        <p:nvSpPr>
          <p:cNvPr id="4" name="text_223"/>
          <p:cNvSpPr txBox="1"/>
          <p:nvPr/>
        </p:nvSpPr>
        <p:spPr>
          <a:xfrm>
            <a:off x="457200" y="1188720"/>
            <a:ext cx="1920240" cy="640080"/>
          </a:xfrm>
          <a:prstGeom prst="rect">
            <a:avLst/>
          </a:prstGeom>
          <a:noFill/>
          <a:ln/>
        </p:spPr>
        <p:txBody>
          <a:bodyPr wrap="square" lIns="0" tIns="0" rIns="0" bIns="0" rtlCol="0" anchor="ctr"/>
          <a:lstStyle/>
          <a:p>
            <a:pPr algn="ctr" indent="0" marL="0">
              <a:buNone/>
            </a:pPr>
            <a:r>
              <a:rPr lang="en-US" sz="3400" b="1" dirty="0">
                <a:solidFill>
                  <a:srgbClr val="5EEAD4"/>
                </a:solidFill>
                <a:latin typeface="Calibri" pitchFamily="34" charset="0"/>
                <a:ea typeface="Calibri" pitchFamily="34" charset="-122"/>
                <a:cs typeface="Calibri" pitchFamily="34" charset="-120"/>
              </a:rPr>
              <a:t>~2 ms</a:t>
            </a:r>
            <a:endParaRPr lang="en-US" sz="3400" dirty="0"/>
          </a:p>
        </p:txBody>
      </p:sp>
      <p:sp>
        <p:nvSpPr>
          <p:cNvPr id="5" name="text_224"/>
          <p:cNvSpPr txBox="1"/>
          <p:nvPr/>
        </p:nvSpPr>
        <p:spPr>
          <a:xfrm>
            <a:off x="457200" y="1828800"/>
            <a:ext cx="1920240" cy="32004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median per snippet</a:t>
            </a:r>
            <a:endParaRPr lang="en-US" sz="1300" dirty="0"/>
          </a:p>
        </p:txBody>
      </p:sp>
      <p:sp>
        <p:nvSpPr>
          <p:cNvPr id="6" name="card_225"/>
          <p:cNvSpPr/>
          <p:nvPr/>
        </p:nvSpPr>
        <p:spPr>
          <a:xfrm>
            <a:off x="2560320" y="1097280"/>
            <a:ext cx="1920240" cy="1234440"/>
          </a:xfrm>
          <a:prstGeom prst="roundRect">
            <a:avLst>
              <a:gd name="adj" fmla="val 5926"/>
            </a:avLst>
          </a:prstGeom>
          <a:solidFill>
            <a:srgbClr val="13213A"/>
          </a:solidFill>
          <a:ln w="12700">
            <a:solidFill>
              <a:srgbClr val="13213A"/>
            </a:solidFill>
            <a:prstDash val="solid"/>
          </a:ln>
        </p:spPr>
      </p:sp>
      <p:sp>
        <p:nvSpPr>
          <p:cNvPr id="7" name="text_226"/>
          <p:cNvSpPr txBox="1"/>
          <p:nvPr/>
        </p:nvSpPr>
        <p:spPr>
          <a:xfrm>
            <a:off x="2560320" y="1188720"/>
            <a:ext cx="1920240" cy="640080"/>
          </a:xfrm>
          <a:prstGeom prst="rect">
            <a:avLst/>
          </a:prstGeom>
          <a:noFill/>
          <a:ln/>
        </p:spPr>
        <p:txBody>
          <a:bodyPr wrap="square" lIns="0" tIns="0" rIns="0" bIns="0" rtlCol="0" anchor="ctr"/>
          <a:lstStyle/>
          <a:p>
            <a:pPr algn="ctr" indent="0" marL="0">
              <a:buNone/>
            </a:pPr>
            <a:r>
              <a:rPr lang="en-US" sz="3400" b="1" dirty="0">
                <a:solidFill>
                  <a:srgbClr val="5EEAD4"/>
                </a:solidFill>
                <a:latin typeface="Calibri" pitchFamily="34" charset="0"/>
                <a:ea typeface="Calibri" pitchFamily="34" charset="-122"/>
                <a:cs typeface="Calibri" pitchFamily="34" charset="-120"/>
              </a:rPr>
              <a:t>~7 ms</a:t>
            </a:r>
            <a:endParaRPr lang="en-US" sz="3400" dirty="0"/>
          </a:p>
        </p:txBody>
      </p:sp>
      <p:sp>
        <p:nvSpPr>
          <p:cNvPr id="8" name="text_227"/>
          <p:cNvSpPr txBox="1"/>
          <p:nvPr/>
        </p:nvSpPr>
        <p:spPr>
          <a:xfrm>
            <a:off x="2560320" y="1828800"/>
            <a:ext cx="1920240" cy="32004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95th percentile</a:t>
            </a:r>
            <a:endParaRPr lang="en-US" sz="1300" dirty="0"/>
          </a:p>
        </p:txBody>
      </p:sp>
      <p:sp>
        <p:nvSpPr>
          <p:cNvPr id="9" name="card_228"/>
          <p:cNvSpPr/>
          <p:nvPr/>
        </p:nvSpPr>
        <p:spPr>
          <a:xfrm>
            <a:off x="4663440" y="1097280"/>
            <a:ext cx="1920240" cy="1234440"/>
          </a:xfrm>
          <a:prstGeom prst="roundRect">
            <a:avLst>
              <a:gd name="adj" fmla="val 5926"/>
            </a:avLst>
          </a:prstGeom>
          <a:solidFill>
            <a:srgbClr val="13213A"/>
          </a:solidFill>
          <a:ln w="12700">
            <a:solidFill>
              <a:srgbClr val="13213A"/>
            </a:solidFill>
            <a:prstDash val="solid"/>
          </a:ln>
        </p:spPr>
      </p:sp>
      <p:sp>
        <p:nvSpPr>
          <p:cNvPr id="10" name="text_229"/>
          <p:cNvSpPr txBox="1"/>
          <p:nvPr/>
        </p:nvSpPr>
        <p:spPr>
          <a:xfrm>
            <a:off x="4663440" y="1188720"/>
            <a:ext cx="1920240" cy="640080"/>
          </a:xfrm>
          <a:prstGeom prst="rect">
            <a:avLst/>
          </a:prstGeom>
          <a:noFill/>
          <a:ln/>
        </p:spPr>
        <p:txBody>
          <a:bodyPr wrap="square" lIns="0" tIns="0" rIns="0" bIns="0" rtlCol="0" anchor="ctr"/>
          <a:lstStyle/>
          <a:p>
            <a:pPr algn="ctr" indent="0" marL="0">
              <a:buNone/>
            </a:pPr>
            <a:r>
              <a:rPr lang="en-US" sz="3400" b="1" dirty="0">
                <a:solidFill>
                  <a:srgbClr val="5EEAD4"/>
                </a:solidFill>
                <a:latin typeface="Calibri" pitchFamily="34" charset="0"/>
                <a:ea typeface="Calibri" pitchFamily="34" charset="-122"/>
                <a:cs typeface="Calibri" pitchFamily="34" charset="-120"/>
              </a:rPr>
              <a:t>86–87%</a:t>
            </a:r>
            <a:endParaRPr lang="en-US" sz="3400" dirty="0"/>
          </a:p>
        </p:txBody>
      </p:sp>
      <p:sp>
        <p:nvSpPr>
          <p:cNvPr id="11" name="text_230"/>
          <p:cNvSpPr txBox="1"/>
          <p:nvPr/>
        </p:nvSpPr>
        <p:spPr>
          <a:xfrm>
            <a:off x="4663440" y="1828800"/>
            <a:ext cx="1920240" cy="32004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of calls under 5 ms</a:t>
            </a:r>
            <a:endParaRPr lang="en-US" sz="1300" dirty="0"/>
          </a:p>
        </p:txBody>
      </p:sp>
      <p:sp>
        <p:nvSpPr>
          <p:cNvPr id="12" name="card_231"/>
          <p:cNvSpPr/>
          <p:nvPr/>
        </p:nvSpPr>
        <p:spPr>
          <a:xfrm>
            <a:off x="6766560" y="1097280"/>
            <a:ext cx="1920240" cy="1234440"/>
          </a:xfrm>
          <a:prstGeom prst="roundRect">
            <a:avLst>
              <a:gd name="adj" fmla="val 5926"/>
            </a:avLst>
          </a:prstGeom>
          <a:solidFill>
            <a:srgbClr val="13213A"/>
          </a:solidFill>
          <a:ln w="12700">
            <a:solidFill>
              <a:srgbClr val="13213A"/>
            </a:solidFill>
            <a:prstDash val="solid"/>
          </a:ln>
        </p:spPr>
      </p:sp>
      <p:sp>
        <p:nvSpPr>
          <p:cNvPr id="13" name="text_232"/>
          <p:cNvSpPr txBox="1"/>
          <p:nvPr/>
        </p:nvSpPr>
        <p:spPr>
          <a:xfrm>
            <a:off x="6766560" y="1188720"/>
            <a:ext cx="1920240" cy="640080"/>
          </a:xfrm>
          <a:prstGeom prst="rect">
            <a:avLst/>
          </a:prstGeom>
          <a:noFill/>
          <a:ln/>
        </p:spPr>
        <p:txBody>
          <a:bodyPr wrap="square" lIns="0" tIns="0" rIns="0" bIns="0" rtlCol="0" anchor="ctr"/>
          <a:lstStyle/>
          <a:p>
            <a:pPr algn="ctr" indent="0" marL="0">
              <a:buNone/>
            </a:pPr>
            <a:r>
              <a:rPr lang="en-US" sz="3400" b="1" dirty="0">
                <a:solidFill>
                  <a:srgbClr val="5EEAD4"/>
                </a:solidFill>
                <a:latin typeface="Calibri" pitchFamily="34" charset="0"/>
                <a:ea typeface="Calibri" pitchFamily="34" charset="-122"/>
                <a:cs typeface="Calibri" pitchFamily="34" charset="-120"/>
              </a:rPr>
              <a:t>1.7 MB</a:t>
            </a:r>
            <a:endParaRPr lang="en-US" sz="3400" dirty="0"/>
          </a:p>
        </p:txBody>
      </p:sp>
      <p:sp>
        <p:nvSpPr>
          <p:cNvPr id="14" name="text_233"/>
          <p:cNvSpPr txBox="1"/>
          <p:nvPr/>
        </p:nvSpPr>
        <p:spPr>
          <a:xfrm>
            <a:off x="6766560" y="1828800"/>
            <a:ext cx="1920240" cy="320040"/>
          </a:xfrm>
          <a:prstGeom prst="rect">
            <a:avLst/>
          </a:prstGeom>
          <a:noFill/>
          <a:ln/>
        </p:spPr>
        <p:txBody>
          <a:bodyPr wrap="square" lIns="0" tIns="0" rIns="0" bIns="0" rtlCol="0" anchor="t"/>
          <a:lstStyle/>
          <a:p>
            <a:pPr algn="ctr" indent="0" marL="0">
              <a:buNone/>
            </a:pPr>
            <a:r>
              <a:rPr lang="en-US" sz="1300" dirty="0">
                <a:solidFill>
                  <a:srgbClr val="93A4BD"/>
                </a:solidFill>
                <a:latin typeface="Calibri" pitchFamily="34" charset="0"/>
                <a:ea typeface="Calibri" pitchFamily="34" charset="-122"/>
                <a:cs typeface="Calibri" pitchFamily="34" charset="-120"/>
              </a:rPr>
              <a:t>all models, total</a:t>
            </a:r>
            <a:endParaRPr lang="en-US" sz="1300" dirty="0"/>
          </a:p>
        </p:txBody>
      </p:sp>
      <p:sp>
        <p:nvSpPr>
          <p:cNvPr id="15" name="text_234"/>
          <p:cNvSpPr txBox="1"/>
          <p:nvPr/>
        </p:nvSpPr>
        <p:spPr>
          <a:xfrm>
            <a:off x="457200" y="2468880"/>
            <a:ext cx="8229600" cy="274320"/>
          </a:xfrm>
          <a:prstGeom prst="rect">
            <a:avLst/>
          </a:prstGeom>
          <a:noFill/>
          <a:ln/>
        </p:spPr>
        <p:txBody>
          <a:bodyPr wrap="square" lIns="0" tIns="0" rIns="0" bIns="0" rtlCol="0" anchor="t"/>
          <a:lstStyle/>
          <a:p>
            <a:pPr algn="ctr" indent="0" marL="0">
              <a:buNone/>
            </a:pPr>
            <a:r>
              <a:rPr lang="en-US" sz="1400" dirty="0">
                <a:solidFill>
                  <a:srgbClr val="E8EEF6"/>
                </a:solidFill>
                <a:latin typeface="Calibri" pitchFamily="34" charset="0"/>
                <a:ea typeface="Calibri" pitchFamily="34" charset="-122"/>
                <a:cs typeface="Calibri" pitchFamily="34" charset="-120"/>
              </a:rPr>
              <a:t>~1 s warm-up at start  ·  CPU only  ·  no network</a:t>
            </a:r>
            <a:endParaRPr lang="en-US" sz="1400" dirty="0"/>
          </a:p>
        </p:txBody>
      </p:sp>
      <p:sp>
        <p:nvSpPr>
          <p:cNvPr id="16" name="card_235"/>
          <p:cNvSpPr/>
          <p:nvPr/>
        </p:nvSpPr>
        <p:spPr>
          <a:xfrm>
            <a:off x="457200" y="2926080"/>
            <a:ext cx="4023360" cy="694944"/>
          </a:xfrm>
          <a:prstGeom prst="roundRect">
            <a:avLst>
              <a:gd name="adj" fmla="val 10526"/>
            </a:avLst>
          </a:prstGeom>
          <a:solidFill>
            <a:srgbClr val="1B2D4F"/>
          </a:solidFill>
          <a:ln w="12700">
            <a:solidFill>
              <a:srgbClr val="1B2D4F"/>
            </a:solidFill>
            <a:prstDash val="solid"/>
          </a:ln>
        </p:spPr>
      </p:sp>
      <p:sp>
        <p:nvSpPr>
          <p:cNvPr id="17" name="text_236"/>
          <p:cNvSpPr txBox="1"/>
          <p:nvPr/>
        </p:nvSpPr>
        <p:spPr>
          <a:xfrm>
            <a:off x="640080" y="2999232"/>
            <a:ext cx="3657600" cy="274320"/>
          </a:xfrm>
          <a:prstGeom prst="rect">
            <a:avLst/>
          </a:prstGeom>
          <a:noFill/>
          <a:ln/>
        </p:spPr>
        <p:txBody>
          <a:bodyPr wrap="square" lIns="0" tIns="0" rIns="0" bIns="0" rtlCol="0" anchor="t"/>
          <a:lstStyle/>
          <a:p>
            <a:pPr indent="0" marL="0">
              <a:buNone/>
            </a:pPr>
            <a:r>
              <a:rPr lang="en-US" sz="1400" b="1" dirty="0">
                <a:solidFill>
                  <a:srgbClr val="E8EEF6"/>
                </a:solidFill>
                <a:latin typeface="Calibri" pitchFamily="34" charset="0"/>
                <a:ea typeface="Calibri" pitchFamily="34" charset="-122"/>
                <a:cs typeface="Calibri" pitchFamily="34" charset="-120"/>
              </a:rPr>
              <a:t>Rule files re-checked</a:t>
            </a:r>
            <a:endParaRPr lang="en-US" sz="1400" dirty="0"/>
          </a:p>
        </p:txBody>
      </p:sp>
      <p:sp>
        <p:nvSpPr>
          <p:cNvPr id="18" name="text_237"/>
          <p:cNvSpPr txBox="1"/>
          <p:nvPr/>
        </p:nvSpPr>
        <p:spPr>
          <a:xfrm>
            <a:off x="640080" y="3291840"/>
            <a:ext cx="374904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at most once per second</a:t>
            </a:r>
            <a:endParaRPr lang="en-US" sz="1100" dirty="0"/>
          </a:p>
        </p:txBody>
      </p:sp>
      <p:sp>
        <p:nvSpPr>
          <p:cNvPr id="19" name="card_238"/>
          <p:cNvSpPr/>
          <p:nvPr/>
        </p:nvSpPr>
        <p:spPr>
          <a:xfrm>
            <a:off x="4663440" y="2926080"/>
            <a:ext cx="4023360" cy="694944"/>
          </a:xfrm>
          <a:prstGeom prst="roundRect">
            <a:avLst>
              <a:gd name="adj" fmla="val 10526"/>
            </a:avLst>
          </a:prstGeom>
          <a:solidFill>
            <a:srgbClr val="1B2D4F"/>
          </a:solidFill>
          <a:ln w="12700">
            <a:solidFill>
              <a:srgbClr val="1B2D4F"/>
            </a:solidFill>
            <a:prstDash val="solid"/>
          </a:ln>
        </p:spPr>
      </p:sp>
      <p:sp>
        <p:nvSpPr>
          <p:cNvPr id="20" name="text_239"/>
          <p:cNvSpPr txBox="1"/>
          <p:nvPr/>
        </p:nvSpPr>
        <p:spPr>
          <a:xfrm>
            <a:off x="4846320" y="2999232"/>
            <a:ext cx="3657600" cy="274320"/>
          </a:xfrm>
          <a:prstGeom prst="rect">
            <a:avLst/>
          </a:prstGeom>
          <a:noFill/>
          <a:ln/>
        </p:spPr>
        <p:txBody>
          <a:bodyPr wrap="square" lIns="0" tIns="0" rIns="0" bIns="0" rtlCol="0" anchor="t"/>
          <a:lstStyle/>
          <a:p>
            <a:pPr indent="0" marL="0">
              <a:buNone/>
            </a:pPr>
            <a:r>
              <a:rPr lang="en-US" sz="1400" b="1" dirty="0">
                <a:solidFill>
                  <a:srgbClr val="E8EEF6"/>
                </a:solidFill>
                <a:latin typeface="Calibri" pitchFamily="34" charset="0"/>
                <a:ea typeface="Calibri" pitchFamily="34" charset="-122"/>
                <a:cs typeface="Calibri" pitchFamily="34" charset="-120"/>
              </a:rPr>
              <a:t>Indexed typosquat lookup</a:t>
            </a:r>
            <a:endParaRPr lang="en-US" sz="1400" dirty="0"/>
          </a:p>
        </p:txBody>
      </p:sp>
      <p:sp>
        <p:nvSpPr>
          <p:cNvPr id="21" name="text_240"/>
          <p:cNvSpPr txBox="1"/>
          <p:nvPr/>
        </p:nvSpPr>
        <p:spPr>
          <a:xfrm>
            <a:off x="4846320" y="3291840"/>
            <a:ext cx="374904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1,000-name scan: 220 ms → indexed, 3,000 names: 0.2 ms</a:t>
            </a:r>
            <a:endParaRPr lang="en-US" sz="1100" dirty="0"/>
          </a:p>
        </p:txBody>
      </p:sp>
      <p:sp>
        <p:nvSpPr>
          <p:cNvPr id="22" name="card_241"/>
          <p:cNvSpPr/>
          <p:nvPr/>
        </p:nvSpPr>
        <p:spPr>
          <a:xfrm>
            <a:off x="457200" y="3730752"/>
            <a:ext cx="4023360" cy="694944"/>
          </a:xfrm>
          <a:prstGeom prst="roundRect">
            <a:avLst>
              <a:gd name="adj" fmla="val 10526"/>
            </a:avLst>
          </a:prstGeom>
          <a:solidFill>
            <a:srgbClr val="1B2D4F"/>
          </a:solidFill>
          <a:ln w="12700">
            <a:solidFill>
              <a:srgbClr val="1B2D4F"/>
            </a:solidFill>
            <a:prstDash val="solid"/>
          </a:ln>
        </p:spPr>
      </p:sp>
      <p:sp>
        <p:nvSpPr>
          <p:cNvPr id="23" name="text_242"/>
          <p:cNvSpPr txBox="1"/>
          <p:nvPr/>
        </p:nvSpPr>
        <p:spPr>
          <a:xfrm>
            <a:off x="640080" y="3803904"/>
            <a:ext cx="3657600" cy="274320"/>
          </a:xfrm>
          <a:prstGeom prst="rect">
            <a:avLst/>
          </a:prstGeom>
          <a:noFill/>
          <a:ln/>
        </p:spPr>
        <p:txBody>
          <a:bodyPr wrap="square" lIns="0" tIns="0" rIns="0" bIns="0" rtlCol="0" anchor="t"/>
          <a:lstStyle/>
          <a:p>
            <a:pPr indent="0" marL="0">
              <a:buNone/>
            </a:pPr>
            <a:r>
              <a:rPr lang="en-US" sz="1400" b="1" dirty="0">
                <a:solidFill>
                  <a:srgbClr val="E8EEF6"/>
                </a:solidFill>
                <a:latin typeface="Calibri" pitchFamily="34" charset="0"/>
                <a:ea typeface="Calibri" pitchFamily="34" charset="-122"/>
                <a:cs typeface="Calibri" pitchFamily="34" charset="-120"/>
              </a:rPr>
              <a:t>Cached tree walks</a:t>
            </a:r>
            <a:endParaRPr lang="en-US" sz="1400" dirty="0"/>
          </a:p>
        </p:txBody>
      </p:sp>
      <p:sp>
        <p:nvSpPr>
          <p:cNvPr id="24" name="text_243"/>
          <p:cNvSpPr txBox="1"/>
          <p:nvPr/>
        </p:nvSpPr>
        <p:spPr>
          <a:xfrm>
            <a:off x="640080" y="4096512"/>
            <a:ext cx="374904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parse once, reuse across rules</a:t>
            </a:r>
            <a:endParaRPr lang="en-US" sz="1100" dirty="0"/>
          </a:p>
        </p:txBody>
      </p:sp>
      <p:sp>
        <p:nvSpPr>
          <p:cNvPr id="25" name="card_244"/>
          <p:cNvSpPr/>
          <p:nvPr/>
        </p:nvSpPr>
        <p:spPr>
          <a:xfrm>
            <a:off x="4663440" y="3730752"/>
            <a:ext cx="4023360" cy="694944"/>
          </a:xfrm>
          <a:prstGeom prst="roundRect">
            <a:avLst>
              <a:gd name="adj" fmla="val 10526"/>
            </a:avLst>
          </a:prstGeom>
          <a:solidFill>
            <a:srgbClr val="1B2D4F"/>
          </a:solidFill>
          <a:ln w="12700">
            <a:solidFill>
              <a:srgbClr val="1B2D4F"/>
            </a:solidFill>
            <a:prstDash val="solid"/>
          </a:ln>
        </p:spPr>
      </p:sp>
      <p:sp>
        <p:nvSpPr>
          <p:cNvPr id="26" name="text_245"/>
          <p:cNvSpPr txBox="1"/>
          <p:nvPr/>
        </p:nvSpPr>
        <p:spPr>
          <a:xfrm>
            <a:off x="4846320" y="3803904"/>
            <a:ext cx="3657600" cy="274320"/>
          </a:xfrm>
          <a:prstGeom prst="rect">
            <a:avLst/>
          </a:prstGeom>
          <a:noFill/>
          <a:ln/>
        </p:spPr>
        <p:txBody>
          <a:bodyPr wrap="square" lIns="0" tIns="0" rIns="0" bIns="0" rtlCol="0" anchor="t"/>
          <a:lstStyle/>
          <a:p>
            <a:pPr indent="0" marL="0">
              <a:buNone/>
            </a:pPr>
            <a:r>
              <a:rPr lang="en-US" sz="1400" b="1" dirty="0">
                <a:solidFill>
                  <a:srgbClr val="E8EEF6"/>
                </a:solidFill>
                <a:latin typeface="Calibri" pitchFamily="34" charset="0"/>
                <a:ea typeface="Calibri" pitchFamily="34" charset="-122"/>
                <a:cs typeface="Calibri" pitchFamily="34" charset="-120"/>
              </a:rPr>
              <a:t>Head + tail scanning</a:t>
            </a:r>
            <a:endParaRPr lang="en-US" sz="1400" dirty="0"/>
          </a:p>
        </p:txBody>
      </p:sp>
      <p:sp>
        <p:nvSpPr>
          <p:cNvPr id="27" name="text_246"/>
          <p:cNvSpPr txBox="1"/>
          <p:nvPr/>
        </p:nvSpPr>
        <p:spPr>
          <a:xfrm>
            <a:off x="4846320" y="4096512"/>
            <a:ext cx="3749040" cy="274320"/>
          </a:xfrm>
          <a:prstGeom prst="rect">
            <a:avLst/>
          </a:prstGeom>
          <a:noFill/>
          <a:ln/>
        </p:spPr>
        <p:txBody>
          <a:bodyPr wrap="square" lIns="0" tIns="0" rIns="0" bIns="0" rtlCol="0" anchor="t"/>
          <a:lstStyle/>
          <a:p>
            <a:pPr indent="0" marL="0">
              <a:buNone/>
            </a:pPr>
            <a:r>
              <a:rPr lang="en-US" sz="1100" dirty="0">
                <a:solidFill>
                  <a:srgbClr val="93A4BD"/>
                </a:solidFill>
                <a:latin typeface="Calibri" pitchFamily="34" charset="0"/>
                <a:ea typeface="Calibri" pitchFamily="34" charset="-122"/>
                <a:cs typeface="Calibri" pitchFamily="34" charset="-120"/>
              </a:rPr>
              <a:t>first 150,000 + last 50,000 chars, so padding can't hide code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Known limits, stated up front</a:t>
            </a:r>
            <a:endParaRPr lang="en-US" sz="2800" dirty="0"/>
          </a:p>
        </p:txBody>
      </p:sp>
      <p:sp>
        <p:nvSpPr>
          <p:cNvPr id="3" name="text_247"/>
          <p:cNvSpPr txBox="1"/>
          <p:nvPr/>
        </p:nvSpPr>
        <p:spPr>
          <a:xfrm>
            <a:off x="457200" y="1097280"/>
            <a:ext cx="4572000" cy="228600"/>
          </a:xfrm>
          <a:prstGeom prst="rect">
            <a:avLst/>
          </a:prstGeom>
          <a:noFill/>
          <a:ln/>
        </p:spPr>
        <p:txBody>
          <a:bodyPr wrap="square" lIns="0" tIns="0" rIns="0" bIns="0" rtlCol="0" anchor="t"/>
          <a:lstStyle/>
          <a:p>
            <a:pPr indent="0" marL="0">
              <a:buNone/>
            </a:pPr>
            <a:r>
              <a:rPr lang="en-US" sz="1100" b="1" spc="200" kern="0" dirty="0">
                <a:solidFill>
                  <a:srgbClr val="93A4BD"/>
                </a:solidFill>
                <a:latin typeface="Calibri" pitchFamily="34" charset="0"/>
                <a:ea typeface="Calibri" pitchFamily="34" charset="-122"/>
                <a:cs typeface="Calibri" pitchFamily="34" charset="-120"/>
              </a:rPr>
              <a:t>WHERE IT CAN MISS OR OVER-FLAG</a:t>
            </a:r>
            <a:endParaRPr lang="en-US" sz="1100" dirty="0"/>
          </a:p>
        </p:txBody>
      </p:sp>
      <p:pic>
        <p:nvPicPr>
          <p:cNvPr id="4" name="warn_248" descr="limit">    </p:cNvPr>
          <p:cNvPicPr>
            <a:picLocks noChangeAspect="1"/>
          </p:cNvPicPr>
          <p:nvPr/>
        </p:nvPicPr>
        <p:blipFill>
          <a:blip r:embed="rId1"/>
          <a:stretch>
            <a:fillRect/>
          </a:stretch>
        </p:blipFill>
        <p:spPr>
          <a:xfrm>
            <a:off x="457200" y="1463040"/>
            <a:ext cx="256032" cy="256032"/>
          </a:xfrm>
          <a:prstGeom prst="rect">
            <a:avLst/>
          </a:prstGeom>
        </p:spPr>
      </p:pic>
      <p:sp>
        <p:nvSpPr>
          <p:cNvPr id="5" name="text_249"/>
          <p:cNvSpPr txBox="1"/>
          <p:nvPr/>
        </p:nvSpPr>
        <p:spPr>
          <a:xfrm>
            <a:off x="868680" y="1417320"/>
            <a:ext cx="4206240" cy="54864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Heavy obfuscation with unknown libraries or runtime-only data</a:t>
            </a:r>
            <a:endParaRPr lang="en-US" sz="1400" dirty="0"/>
          </a:p>
        </p:txBody>
      </p:sp>
      <p:pic>
        <p:nvPicPr>
          <p:cNvPr id="6" name="warn_250" descr="limit">    </p:cNvPr>
          <p:cNvPicPr>
            <a:picLocks noChangeAspect="1"/>
          </p:cNvPicPr>
          <p:nvPr/>
        </p:nvPicPr>
        <p:blipFill>
          <a:blip r:embed="rId2"/>
          <a:stretch>
            <a:fillRect/>
          </a:stretch>
        </p:blipFill>
        <p:spPr>
          <a:xfrm>
            <a:off x="457200" y="2075688"/>
            <a:ext cx="256032" cy="256032"/>
          </a:xfrm>
          <a:prstGeom prst="rect">
            <a:avLst/>
          </a:prstGeom>
        </p:spPr>
      </p:pic>
      <p:sp>
        <p:nvSpPr>
          <p:cNvPr id="7" name="text_251"/>
          <p:cNvSpPr txBox="1"/>
          <p:nvPr/>
        </p:nvSpPr>
        <p:spPr>
          <a:xfrm>
            <a:off x="868680" y="2029968"/>
            <a:ext cx="4206240" cy="54864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Coarser analysis for PHP, Go, Ruby, PowerShell, Java, C#</a:t>
            </a:r>
            <a:endParaRPr lang="en-US" sz="1400" dirty="0"/>
          </a:p>
        </p:txBody>
      </p:sp>
      <p:pic>
        <p:nvPicPr>
          <p:cNvPr id="8" name="warn_252" descr="limit">    </p:cNvPr>
          <p:cNvPicPr>
            <a:picLocks noChangeAspect="1"/>
          </p:cNvPicPr>
          <p:nvPr/>
        </p:nvPicPr>
        <p:blipFill>
          <a:blip r:embed="rId3"/>
          <a:stretch>
            <a:fillRect/>
          </a:stretch>
        </p:blipFill>
        <p:spPr>
          <a:xfrm>
            <a:off x="457200" y="2688336"/>
            <a:ext cx="256032" cy="256032"/>
          </a:xfrm>
          <a:prstGeom prst="rect">
            <a:avLst/>
          </a:prstGeom>
        </p:spPr>
      </p:pic>
      <p:sp>
        <p:nvSpPr>
          <p:cNvPr id="9" name="text_253"/>
          <p:cNvSpPr txBox="1"/>
          <p:nvPr/>
        </p:nvSpPr>
        <p:spPr>
          <a:xfrm>
            <a:off x="868680" y="2642616"/>
            <a:ext cx="4206240" cy="54864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~7–8% false positives on dual-use library code</a:t>
            </a:r>
            <a:endParaRPr lang="en-US" sz="1400" dirty="0"/>
          </a:p>
        </p:txBody>
      </p:sp>
      <p:pic>
        <p:nvPicPr>
          <p:cNvPr id="10" name="warn_254" descr="limit">    </p:cNvPr>
          <p:cNvPicPr>
            <a:picLocks noChangeAspect="1"/>
          </p:cNvPicPr>
          <p:nvPr/>
        </p:nvPicPr>
        <p:blipFill>
          <a:blip r:embed="rId4"/>
          <a:stretch>
            <a:fillRect/>
          </a:stretch>
        </p:blipFill>
        <p:spPr>
          <a:xfrm>
            <a:off x="457200" y="3300984"/>
            <a:ext cx="256032" cy="256032"/>
          </a:xfrm>
          <a:prstGeom prst="rect">
            <a:avLst/>
          </a:prstGeom>
        </p:spPr>
      </p:pic>
      <p:sp>
        <p:nvSpPr>
          <p:cNvPr id="11" name="text_255"/>
          <p:cNvSpPr txBox="1"/>
          <p:nvPr/>
        </p:nvSpPr>
        <p:spPr>
          <a:xfrm>
            <a:off x="868680" y="3255264"/>
            <a:ext cx="4206240" cy="54864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npm package knowledge is thin</a:t>
            </a:r>
            <a:endParaRPr lang="en-US" sz="1400" dirty="0"/>
          </a:p>
        </p:txBody>
      </p:sp>
      <p:pic>
        <p:nvPicPr>
          <p:cNvPr id="12" name="warn_256" descr="limit">    </p:cNvPr>
          <p:cNvPicPr>
            <a:picLocks noChangeAspect="1"/>
          </p:cNvPicPr>
          <p:nvPr/>
        </p:nvPicPr>
        <p:blipFill>
          <a:blip r:embed="rId5"/>
          <a:stretch>
            <a:fillRect/>
          </a:stretch>
        </p:blipFill>
        <p:spPr>
          <a:xfrm>
            <a:off x="457200" y="3913632"/>
            <a:ext cx="256032" cy="256032"/>
          </a:xfrm>
          <a:prstGeom prst="rect">
            <a:avLst/>
          </a:prstGeom>
        </p:spPr>
      </p:pic>
      <p:sp>
        <p:nvSpPr>
          <p:cNvPr id="13" name="text_257"/>
          <p:cNvSpPr txBox="1"/>
          <p:nvPr/>
        </p:nvSpPr>
        <p:spPr>
          <a:xfrm>
            <a:off x="868680" y="3867912"/>
            <a:ext cx="4206240" cy="548640"/>
          </a:xfrm>
          <a:prstGeom prst="rect">
            <a:avLst/>
          </a:prstGeom>
          <a:noFill/>
          <a:ln/>
        </p:spPr>
        <p:txBody>
          <a:bodyPr wrap="square" lIns="0" tIns="0" rIns="0" bIns="0" rtlCol="0" anchor="t"/>
          <a:lstStyle/>
          <a:p>
            <a:pPr indent="0" marL="0">
              <a:buNone/>
            </a:pPr>
            <a:r>
              <a:rPr lang="en-US" sz="1400" dirty="0">
                <a:solidFill>
                  <a:srgbClr val="E8EEF6"/>
                </a:solidFill>
                <a:latin typeface="Calibri" pitchFamily="34" charset="0"/>
                <a:ea typeface="Calibri" pitchFamily="34" charset="-122"/>
                <a:cs typeface="Calibri" pitchFamily="34" charset="-120"/>
              </a:rPr>
              <a:t>Multi-category label conventions are uncertain (default: report every category; switchable)</a:t>
            </a:r>
            <a:endParaRPr lang="en-US" sz="1400" dirty="0"/>
          </a:p>
        </p:txBody>
      </p:sp>
      <p:sp>
        <p:nvSpPr>
          <p:cNvPr id="14" name="card_258"/>
          <p:cNvSpPr/>
          <p:nvPr/>
        </p:nvSpPr>
        <p:spPr>
          <a:xfrm>
            <a:off x="5394960" y="1097280"/>
            <a:ext cx="3291840" cy="1783080"/>
          </a:xfrm>
          <a:prstGeom prst="roundRect">
            <a:avLst>
              <a:gd name="adj" fmla="val 4103"/>
            </a:avLst>
          </a:prstGeom>
          <a:solidFill>
            <a:srgbClr val="13213A"/>
          </a:solidFill>
          <a:ln w="15875">
            <a:solidFill>
              <a:srgbClr val="14B8A6"/>
            </a:solidFill>
            <a:prstDash val="solid"/>
          </a:ln>
        </p:spPr>
      </p:sp>
      <p:sp>
        <p:nvSpPr>
          <p:cNvPr id="15" name="text_259"/>
          <p:cNvSpPr txBox="1"/>
          <p:nvPr/>
        </p:nvSpPr>
        <p:spPr>
          <a:xfrm>
            <a:off x="5577840" y="1188720"/>
            <a:ext cx="3017520" cy="228600"/>
          </a:xfrm>
          <a:prstGeom prst="rect">
            <a:avLst/>
          </a:prstGeom>
          <a:noFill/>
          <a:ln/>
        </p:spPr>
        <p:txBody>
          <a:bodyPr wrap="square" lIns="0" tIns="0" rIns="0" bIns="0" rtlCol="0" anchor="t"/>
          <a:lstStyle/>
          <a:p>
            <a:pPr indent="0" marL="0">
              <a:buNone/>
            </a:pPr>
            <a:r>
              <a:rPr lang="en-US" sz="1100" b="1" spc="100" kern="0" dirty="0">
                <a:solidFill>
                  <a:srgbClr val="14B8A6"/>
                </a:solidFill>
                <a:latin typeface="Calibri" pitchFamily="34" charset="0"/>
                <a:ea typeface="Calibri" pitchFamily="34" charset="-122"/>
                <a:cs typeface="Calibri" pitchFamily="34" charset="-120"/>
              </a:rPr>
              <a:t>EXPECTED ON THE HIDDEN SET</a:t>
            </a:r>
            <a:endParaRPr lang="en-US" sz="1100" dirty="0"/>
          </a:p>
        </p:txBody>
      </p:sp>
      <p:sp>
        <p:nvSpPr>
          <p:cNvPr id="16" name="text_260"/>
          <p:cNvSpPr txBox="1"/>
          <p:nvPr/>
        </p:nvSpPr>
        <p:spPr>
          <a:xfrm>
            <a:off x="5577840" y="1463040"/>
            <a:ext cx="3017520" cy="457200"/>
          </a:xfrm>
          <a:prstGeom prst="rect">
            <a:avLst/>
          </a:prstGeom>
          <a:noFill/>
          <a:ln/>
        </p:spPr>
        <p:txBody>
          <a:bodyPr wrap="square" lIns="0" tIns="0" rIns="0" bIns="0" rtlCol="0" anchor="t"/>
          <a:lstStyle/>
          <a:p>
            <a:pPr indent="0" marL="0">
              <a:buNone/>
            </a:pPr>
            <a:r>
              <a:rPr lang="en-US" sz="2800" b="1" dirty="0">
                <a:solidFill>
                  <a:srgbClr val="5EEAD4"/>
                </a:solidFill>
                <a:latin typeface="Calibri" pitchFamily="34" charset="0"/>
                <a:ea typeface="Calibri" pitchFamily="34" charset="-122"/>
                <a:cs typeface="Calibri" pitchFamily="34" charset="-120"/>
              </a:rPr>
              <a:t>90–95%</a:t>
            </a:r>
            <a:endParaRPr lang="en-US" sz="2800" dirty="0"/>
          </a:p>
        </p:txBody>
      </p:sp>
      <p:sp>
        <p:nvSpPr>
          <p:cNvPr id="17" name="text_261"/>
          <p:cNvSpPr txBox="1"/>
          <p:nvPr/>
        </p:nvSpPr>
        <p:spPr>
          <a:xfrm>
            <a:off x="5577840" y="1901952"/>
            <a:ext cx="3017520" cy="22860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verdict accuracy</a:t>
            </a:r>
            <a:endParaRPr lang="en-US" sz="1200" dirty="0"/>
          </a:p>
        </p:txBody>
      </p:sp>
      <p:sp>
        <p:nvSpPr>
          <p:cNvPr id="18" name="text_262"/>
          <p:cNvSpPr txBox="1"/>
          <p:nvPr/>
        </p:nvSpPr>
        <p:spPr>
          <a:xfrm>
            <a:off x="5577840" y="2148840"/>
            <a:ext cx="3017520" cy="457200"/>
          </a:xfrm>
          <a:prstGeom prst="rect">
            <a:avLst/>
          </a:prstGeom>
          <a:noFill/>
          <a:ln/>
        </p:spPr>
        <p:txBody>
          <a:bodyPr wrap="square" lIns="0" tIns="0" rIns="0" bIns="0" rtlCol="0" anchor="t"/>
          <a:lstStyle/>
          <a:p>
            <a:pPr indent="0" marL="0">
              <a:buNone/>
            </a:pPr>
            <a:r>
              <a:rPr lang="en-US" sz="2800" b="1" dirty="0">
                <a:solidFill>
                  <a:srgbClr val="5EEAD4"/>
                </a:solidFill>
                <a:latin typeface="Calibri" pitchFamily="34" charset="0"/>
                <a:ea typeface="Calibri" pitchFamily="34" charset="-122"/>
                <a:cs typeface="Calibri" pitchFamily="34" charset="-120"/>
              </a:rPr>
              <a:t>78–86%</a:t>
            </a:r>
            <a:endParaRPr lang="en-US" sz="2800" dirty="0"/>
          </a:p>
        </p:txBody>
      </p:sp>
      <p:sp>
        <p:nvSpPr>
          <p:cNvPr id="19" name="text_263"/>
          <p:cNvSpPr txBox="1"/>
          <p:nvPr/>
        </p:nvSpPr>
        <p:spPr>
          <a:xfrm>
            <a:off x="5577840" y="2587752"/>
            <a:ext cx="3017520" cy="228600"/>
          </a:xfrm>
          <a:prstGeom prst="rect">
            <a:avLst/>
          </a:prstGeom>
          <a:noFill/>
          <a:ln/>
        </p:spPr>
        <p:txBody>
          <a:bodyPr wrap="square" lIns="0" tIns="0" rIns="0" bIns="0" rtlCol="0" anchor="t"/>
          <a:lstStyle/>
          <a:p>
            <a:pPr indent="0" marL="0">
              <a:buNone/>
            </a:pPr>
            <a:r>
              <a:rPr lang="en-US" sz="1200" dirty="0">
                <a:solidFill>
                  <a:srgbClr val="93A4BD"/>
                </a:solidFill>
                <a:latin typeface="Calibri" pitchFamily="34" charset="0"/>
                <a:ea typeface="Calibri" pitchFamily="34" charset="-122"/>
                <a:cs typeface="Calibri" pitchFamily="34" charset="-120"/>
              </a:rPr>
              <a:t>exact category sets</a:t>
            </a:r>
            <a:endParaRPr lang="en-US" sz="1200" dirty="0"/>
          </a:p>
        </p:txBody>
      </p:sp>
      <p:sp>
        <p:nvSpPr>
          <p:cNvPr id="20" name="card_264"/>
          <p:cNvSpPr/>
          <p:nvPr/>
        </p:nvSpPr>
        <p:spPr>
          <a:xfrm>
            <a:off x="5394960" y="3017520"/>
            <a:ext cx="3291840" cy="1463040"/>
          </a:xfrm>
          <a:prstGeom prst="roundRect">
            <a:avLst>
              <a:gd name="adj" fmla="val 5000"/>
            </a:avLst>
          </a:prstGeom>
          <a:solidFill>
            <a:srgbClr val="1B2D4F"/>
          </a:solidFill>
          <a:ln w="12700">
            <a:solidFill>
              <a:srgbClr val="1B2D4F"/>
            </a:solidFill>
            <a:prstDash val="solid"/>
          </a:ln>
        </p:spPr>
      </p:sp>
      <p:sp>
        <p:nvSpPr>
          <p:cNvPr id="21" name="text_265"/>
          <p:cNvSpPr txBox="1"/>
          <p:nvPr/>
        </p:nvSpPr>
        <p:spPr>
          <a:xfrm>
            <a:off x="5577840" y="3108960"/>
            <a:ext cx="3017520" cy="228600"/>
          </a:xfrm>
          <a:prstGeom prst="rect">
            <a:avLst/>
          </a:prstGeom>
          <a:noFill/>
          <a:ln/>
        </p:spPr>
        <p:txBody>
          <a:bodyPr wrap="square" lIns="0" tIns="0" rIns="0" bIns="0" rtlCol="0" anchor="t"/>
          <a:lstStyle/>
          <a:p>
            <a:pPr indent="0" marL="0">
              <a:buNone/>
            </a:pPr>
            <a:r>
              <a:rPr lang="en-US" sz="1100" b="1" spc="200" kern="0" dirty="0">
                <a:solidFill>
                  <a:srgbClr val="14B8A6"/>
                </a:solidFill>
                <a:latin typeface="Calibri" pitchFamily="34" charset="0"/>
                <a:ea typeface="Calibri" pitchFamily="34" charset="-122"/>
                <a:cs typeface="Calibri" pitchFamily="34" charset="-120"/>
              </a:rPr>
              <a:t>NEXT</a:t>
            </a:r>
            <a:endParaRPr lang="en-US" sz="1100" dirty="0"/>
          </a:p>
        </p:txBody>
      </p:sp>
      <p:sp>
        <p:nvSpPr>
          <p:cNvPr id="22" name="text_266"/>
          <p:cNvSpPr txBox="1"/>
          <p:nvPr/>
        </p:nvSpPr>
        <p:spPr>
          <a:xfrm>
            <a:off x="5577840" y="3383280"/>
            <a:ext cx="301752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6"/>
                </a:solidFill>
                <a:latin typeface="Calibri" pitchFamily="34" charset="0"/>
                <a:ea typeface="Calibri" pitchFamily="34" charset="-122"/>
                <a:cs typeface="Calibri" pitchFamily="34" charset="-120"/>
              </a:rPr>
              <a:t>More non-Python front-ends</a:t>
            </a:r>
            <a:endParaRPr lang="en-US" sz="1400" dirty="0"/>
          </a:p>
          <a:p>
            <a:pPr marL="342900" indent="-342900">
              <a:spcAft>
                <a:spcPts val="400"/>
              </a:spcAft>
              <a:buSzPct val="100000"/>
              <a:buChar char="•"/>
            </a:pPr>
            <a:r>
              <a:rPr lang="en-US" sz="1400" dirty="0">
                <a:solidFill>
                  <a:srgbClr val="E8EEF6"/>
                </a:solidFill>
                <a:latin typeface="Calibri" pitchFamily="34" charset="0"/>
                <a:ea typeface="Calibri" pitchFamily="34" charset="-122"/>
                <a:cs typeface="Calibri" pitchFamily="34" charset="-120"/>
              </a:rPr>
              <a:t>More diverse labelled data</a:t>
            </a:r>
            <a:endParaRPr lang="en-US" sz="1400" dirty="0"/>
          </a:p>
          <a:p>
            <a:pPr marL="342900" indent="-342900">
              <a:spcAft>
                <a:spcPts val="400"/>
              </a:spcAft>
              <a:buSzPct val="100000"/>
              <a:buChar char="•"/>
            </a:pPr>
            <a:r>
              <a:rPr lang="en-US" sz="1400" dirty="0">
                <a:solidFill>
                  <a:srgbClr val="E8EEF6"/>
                </a:solidFill>
                <a:latin typeface="Calibri" pitchFamily="34" charset="0"/>
                <a:ea typeface="Calibri" pitchFamily="34" charset="-122"/>
                <a:cs typeface="Calibri" pitchFamily="34" charset="-120"/>
              </a:rPr>
              <a:t>Wider npm package list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Live demo: four steps, four verdicts</a:t>
            </a:r>
            <a:endParaRPr lang="en-US" sz="2800" dirty="0"/>
          </a:p>
        </p:txBody>
      </p:sp>
      <p:sp>
        <p:nvSpPr>
          <p:cNvPr id="3" name="card_267"/>
          <p:cNvSpPr/>
          <p:nvPr/>
        </p:nvSpPr>
        <p:spPr>
          <a:xfrm>
            <a:off x="457200" y="1097280"/>
            <a:ext cx="5257800" cy="566928"/>
          </a:xfrm>
          <a:prstGeom prst="roundRect">
            <a:avLst>
              <a:gd name="adj" fmla="val 12903"/>
            </a:avLst>
          </a:prstGeom>
          <a:solidFill>
            <a:srgbClr val="13213A"/>
          </a:solidFill>
          <a:ln w="12700">
            <a:solidFill>
              <a:srgbClr val="13213A"/>
            </a:solidFill>
            <a:prstDash val="solid"/>
          </a:ln>
        </p:spPr>
      </p:sp>
      <p:sp>
        <p:nvSpPr>
          <p:cNvPr id="4" name="stepnum_268"/>
          <p:cNvSpPr/>
          <p:nvPr/>
        </p:nvSpPr>
        <p:spPr>
          <a:xfrm>
            <a:off x="594360" y="1197864"/>
            <a:ext cx="365760" cy="365760"/>
          </a:xfrm>
          <a:prstGeom prst="ellipse">
            <a:avLst/>
          </a:prstGeom>
          <a:solidFill>
            <a:srgbClr val="1B2D4F"/>
          </a:solidFill>
          <a:ln w="12700">
            <a:solidFill>
              <a:srgbClr val="14B8A6"/>
            </a:solidFill>
            <a:prstDash val="solid"/>
          </a:ln>
        </p:spPr>
      </p:sp>
      <p:sp>
        <p:nvSpPr>
          <p:cNvPr id="5" name="text_269"/>
          <p:cNvSpPr txBox="1"/>
          <p:nvPr/>
        </p:nvSpPr>
        <p:spPr>
          <a:xfrm>
            <a:off x="594360" y="1197864"/>
            <a:ext cx="365760" cy="365760"/>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1</a:t>
            </a:r>
            <a:endParaRPr lang="en-US" sz="1400" dirty="0"/>
          </a:p>
        </p:txBody>
      </p:sp>
      <p:sp>
        <p:nvSpPr>
          <p:cNvPr id="6" name="text_270"/>
          <p:cNvSpPr txBox="1"/>
          <p:nvPr/>
        </p:nvSpPr>
        <p:spPr>
          <a:xfrm>
            <a:off x="1097280" y="1097280"/>
            <a:ext cx="3520440" cy="566928"/>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UI: paste a small pure function</a:t>
            </a:r>
            <a:endParaRPr lang="en-US" sz="1400" dirty="0"/>
          </a:p>
        </p:txBody>
      </p:sp>
      <p:sp>
        <p:nvSpPr>
          <p:cNvPr id="7" name="badge_271"/>
          <p:cNvSpPr/>
          <p:nvPr/>
        </p:nvSpPr>
        <p:spPr>
          <a:xfrm>
            <a:off x="4709160" y="1243584"/>
            <a:ext cx="868680" cy="274320"/>
          </a:xfrm>
          <a:prstGeom prst="roundRect">
            <a:avLst>
              <a:gd name="adj" fmla="val 50000"/>
            </a:avLst>
          </a:prstGeom>
          <a:solidFill>
            <a:srgbClr val="14B8A6"/>
          </a:solidFill>
          <a:ln w="12700">
            <a:solidFill>
              <a:srgbClr val="14B8A6"/>
            </a:solidFill>
            <a:prstDash val="solid"/>
          </a:ln>
        </p:spPr>
      </p:sp>
      <p:sp>
        <p:nvSpPr>
          <p:cNvPr id="8" name="text_272"/>
          <p:cNvSpPr txBox="1"/>
          <p:nvPr/>
        </p:nvSpPr>
        <p:spPr>
          <a:xfrm>
            <a:off x="4709160" y="1243584"/>
            <a:ext cx="86868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ALLOW</a:t>
            </a:r>
            <a:endParaRPr lang="en-US" sz="1100" dirty="0"/>
          </a:p>
        </p:txBody>
      </p:sp>
      <p:sp>
        <p:nvSpPr>
          <p:cNvPr id="9" name="card_273"/>
          <p:cNvSpPr/>
          <p:nvPr/>
        </p:nvSpPr>
        <p:spPr>
          <a:xfrm>
            <a:off x="457200" y="1783080"/>
            <a:ext cx="5257800" cy="822960"/>
          </a:xfrm>
          <a:prstGeom prst="roundRect">
            <a:avLst>
              <a:gd name="adj" fmla="val 8889"/>
            </a:avLst>
          </a:prstGeom>
          <a:solidFill>
            <a:srgbClr val="13213A"/>
          </a:solidFill>
          <a:ln w="12700">
            <a:solidFill>
              <a:srgbClr val="13213A"/>
            </a:solidFill>
            <a:prstDash val="solid"/>
          </a:ln>
        </p:spPr>
      </p:sp>
      <p:sp>
        <p:nvSpPr>
          <p:cNvPr id="10" name="stepnum_274"/>
          <p:cNvSpPr/>
          <p:nvPr/>
        </p:nvSpPr>
        <p:spPr>
          <a:xfrm>
            <a:off x="594360" y="2011680"/>
            <a:ext cx="365760" cy="365760"/>
          </a:xfrm>
          <a:prstGeom prst="ellipse">
            <a:avLst/>
          </a:prstGeom>
          <a:solidFill>
            <a:srgbClr val="1B2D4F"/>
          </a:solidFill>
          <a:ln w="12700">
            <a:solidFill>
              <a:srgbClr val="14B8A6"/>
            </a:solidFill>
            <a:prstDash val="solid"/>
          </a:ln>
        </p:spPr>
      </p:sp>
      <p:sp>
        <p:nvSpPr>
          <p:cNvPr id="11" name="text_275"/>
          <p:cNvSpPr txBox="1"/>
          <p:nvPr/>
        </p:nvSpPr>
        <p:spPr>
          <a:xfrm>
            <a:off x="594360" y="2011680"/>
            <a:ext cx="365760" cy="365760"/>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2</a:t>
            </a:r>
            <a:endParaRPr lang="en-US" sz="1400" dirty="0"/>
          </a:p>
        </p:txBody>
      </p:sp>
      <p:sp>
        <p:nvSpPr>
          <p:cNvPr id="12" name="text_276"/>
          <p:cNvSpPr txBox="1"/>
          <p:nvPr/>
        </p:nvSpPr>
        <p:spPr>
          <a:xfrm>
            <a:off x="1097280" y="1892808"/>
            <a:ext cx="3520440" cy="32004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Paste: read cloud creds → post outside</a:t>
            </a:r>
            <a:endParaRPr lang="en-US" sz="1400" dirty="0"/>
          </a:p>
        </p:txBody>
      </p:sp>
      <p:sp>
        <p:nvSpPr>
          <p:cNvPr id="13" name="text_277"/>
          <p:cNvSpPr txBox="1"/>
          <p:nvPr/>
        </p:nvSpPr>
        <p:spPr>
          <a:xfrm>
            <a:off x="1097280" y="2221992"/>
            <a:ext cx="3520440" cy="292608"/>
          </a:xfrm>
          <a:prstGeom prst="rect">
            <a:avLst/>
          </a:prstGeom>
          <a:noFill/>
          <a:ln/>
        </p:spPr>
        <p:txBody>
          <a:bodyPr wrap="square" lIns="0" tIns="0" rIns="0" bIns="0" rtlCol="0" anchor="ctr"/>
          <a:lstStyle/>
          <a:p>
            <a:pPr indent="0" marL="0">
              <a:buNone/>
            </a:pPr>
            <a:r>
              <a:rPr lang="en-US" sz="1100" dirty="0">
                <a:solidFill>
                  <a:srgbClr val="93A4BD"/>
                </a:solidFill>
                <a:latin typeface="Calibri" pitchFamily="34" charset="0"/>
                <a:ea typeface="Calibri" pitchFamily="34" charset="-122"/>
                <a:cs typeface="Calibri" pitchFamily="34" charset="-120"/>
              </a:rPr>
              <a:t>secret_access + data_exfiltration · lines highlighted · reason</a:t>
            </a:r>
            <a:endParaRPr lang="en-US" sz="1100" dirty="0"/>
          </a:p>
        </p:txBody>
      </p:sp>
      <p:sp>
        <p:nvSpPr>
          <p:cNvPr id="14" name="badge_278"/>
          <p:cNvSpPr/>
          <p:nvPr/>
        </p:nvSpPr>
        <p:spPr>
          <a:xfrm>
            <a:off x="4709160" y="2057400"/>
            <a:ext cx="868680" cy="274320"/>
          </a:xfrm>
          <a:prstGeom prst="roundRect">
            <a:avLst>
              <a:gd name="adj" fmla="val 50000"/>
            </a:avLst>
          </a:prstGeom>
          <a:solidFill>
            <a:srgbClr val="F0616D"/>
          </a:solidFill>
          <a:ln w="12700">
            <a:solidFill>
              <a:srgbClr val="F0616D"/>
            </a:solidFill>
            <a:prstDash val="solid"/>
          </a:ln>
        </p:spPr>
      </p:sp>
      <p:sp>
        <p:nvSpPr>
          <p:cNvPr id="15" name="text_279"/>
          <p:cNvSpPr txBox="1"/>
          <p:nvPr/>
        </p:nvSpPr>
        <p:spPr>
          <a:xfrm>
            <a:off x="4709160" y="2057400"/>
            <a:ext cx="86868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BLOCK</a:t>
            </a:r>
            <a:endParaRPr lang="en-US" sz="1100" dirty="0"/>
          </a:p>
        </p:txBody>
      </p:sp>
      <p:sp>
        <p:nvSpPr>
          <p:cNvPr id="16" name="card_280"/>
          <p:cNvSpPr/>
          <p:nvPr/>
        </p:nvSpPr>
        <p:spPr>
          <a:xfrm>
            <a:off x="457200" y="2724912"/>
            <a:ext cx="5257800" cy="566928"/>
          </a:xfrm>
          <a:prstGeom prst="roundRect">
            <a:avLst>
              <a:gd name="adj" fmla="val 12903"/>
            </a:avLst>
          </a:prstGeom>
          <a:solidFill>
            <a:srgbClr val="13213A"/>
          </a:solidFill>
          <a:ln w="12700">
            <a:solidFill>
              <a:srgbClr val="13213A"/>
            </a:solidFill>
            <a:prstDash val="solid"/>
          </a:ln>
        </p:spPr>
      </p:sp>
      <p:sp>
        <p:nvSpPr>
          <p:cNvPr id="17" name="stepnum_281"/>
          <p:cNvSpPr/>
          <p:nvPr/>
        </p:nvSpPr>
        <p:spPr>
          <a:xfrm>
            <a:off x="594360" y="2825496"/>
            <a:ext cx="365760" cy="365760"/>
          </a:xfrm>
          <a:prstGeom prst="ellipse">
            <a:avLst/>
          </a:prstGeom>
          <a:solidFill>
            <a:srgbClr val="1B2D4F"/>
          </a:solidFill>
          <a:ln w="12700">
            <a:solidFill>
              <a:srgbClr val="14B8A6"/>
            </a:solidFill>
            <a:prstDash val="solid"/>
          </a:ln>
        </p:spPr>
      </p:sp>
      <p:sp>
        <p:nvSpPr>
          <p:cNvPr id="18" name="text_282"/>
          <p:cNvSpPr txBox="1"/>
          <p:nvPr/>
        </p:nvSpPr>
        <p:spPr>
          <a:xfrm>
            <a:off x="594360" y="2825496"/>
            <a:ext cx="365760" cy="365760"/>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3</a:t>
            </a:r>
            <a:endParaRPr lang="en-US" sz="1400" dirty="0"/>
          </a:p>
        </p:txBody>
      </p:sp>
      <p:sp>
        <p:nvSpPr>
          <p:cNvPr id="19" name="text_283"/>
          <p:cNvSpPr txBox="1"/>
          <p:nvPr/>
        </p:nvSpPr>
        <p:spPr>
          <a:xfrm>
            <a:off x="1097280" y="2724912"/>
            <a:ext cx="3520440" cy="566928"/>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Paste a benign look-alike: parameterised SQL</a:t>
            </a:r>
            <a:endParaRPr lang="en-US" sz="1400" dirty="0"/>
          </a:p>
        </p:txBody>
      </p:sp>
      <p:sp>
        <p:nvSpPr>
          <p:cNvPr id="20" name="badge_284"/>
          <p:cNvSpPr/>
          <p:nvPr/>
        </p:nvSpPr>
        <p:spPr>
          <a:xfrm>
            <a:off x="4709160" y="2871216"/>
            <a:ext cx="868680" cy="274320"/>
          </a:xfrm>
          <a:prstGeom prst="roundRect">
            <a:avLst>
              <a:gd name="adj" fmla="val 50000"/>
            </a:avLst>
          </a:prstGeom>
          <a:solidFill>
            <a:srgbClr val="14B8A6"/>
          </a:solidFill>
          <a:ln w="12700">
            <a:solidFill>
              <a:srgbClr val="14B8A6"/>
            </a:solidFill>
            <a:prstDash val="solid"/>
          </a:ln>
        </p:spPr>
      </p:sp>
      <p:sp>
        <p:nvSpPr>
          <p:cNvPr id="21" name="text_285"/>
          <p:cNvSpPr txBox="1"/>
          <p:nvPr/>
        </p:nvSpPr>
        <p:spPr>
          <a:xfrm>
            <a:off x="4709160" y="2871216"/>
            <a:ext cx="86868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ALLOW</a:t>
            </a:r>
            <a:endParaRPr lang="en-US" sz="1100" dirty="0"/>
          </a:p>
        </p:txBody>
      </p:sp>
      <p:sp>
        <p:nvSpPr>
          <p:cNvPr id="22" name="card_286"/>
          <p:cNvSpPr/>
          <p:nvPr/>
        </p:nvSpPr>
        <p:spPr>
          <a:xfrm>
            <a:off x="457200" y="3410712"/>
            <a:ext cx="5257800" cy="566928"/>
          </a:xfrm>
          <a:prstGeom prst="roundRect">
            <a:avLst>
              <a:gd name="adj" fmla="val 12903"/>
            </a:avLst>
          </a:prstGeom>
          <a:solidFill>
            <a:srgbClr val="13213A"/>
          </a:solidFill>
          <a:ln w="12700">
            <a:solidFill>
              <a:srgbClr val="13213A"/>
            </a:solidFill>
            <a:prstDash val="solid"/>
          </a:ln>
        </p:spPr>
      </p:sp>
      <p:sp>
        <p:nvSpPr>
          <p:cNvPr id="23" name="stepnum_287"/>
          <p:cNvSpPr/>
          <p:nvPr/>
        </p:nvSpPr>
        <p:spPr>
          <a:xfrm>
            <a:off x="594360" y="3511296"/>
            <a:ext cx="365760" cy="365760"/>
          </a:xfrm>
          <a:prstGeom prst="ellipse">
            <a:avLst/>
          </a:prstGeom>
          <a:solidFill>
            <a:srgbClr val="1B2D4F"/>
          </a:solidFill>
          <a:ln w="12700">
            <a:solidFill>
              <a:srgbClr val="14B8A6"/>
            </a:solidFill>
            <a:prstDash val="solid"/>
          </a:ln>
        </p:spPr>
      </p:sp>
      <p:sp>
        <p:nvSpPr>
          <p:cNvPr id="24" name="text_288"/>
          <p:cNvSpPr txBox="1"/>
          <p:nvPr/>
        </p:nvSpPr>
        <p:spPr>
          <a:xfrm>
            <a:off x="594360" y="3511296"/>
            <a:ext cx="365760" cy="365760"/>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4</a:t>
            </a:r>
            <a:endParaRPr lang="en-US" sz="1400" dirty="0"/>
          </a:p>
        </p:txBody>
      </p:sp>
      <p:sp>
        <p:nvSpPr>
          <p:cNvPr id="25" name="text_289"/>
          <p:cNvSpPr txBox="1"/>
          <p:nvPr/>
        </p:nvSpPr>
        <p:spPr>
          <a:xfrm>
            <a:off x="1097280" y="3410712"/>
            <a:ext cx="3520440" cy="566928"/>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Run  python demo/intercept_check.py</a:t>
            </a:r>
            <a:endParaRPr lang="en-US" sz="1400" dirty="0"/>
          </a:p>
        </p:txBody>
      </p:sp>
      <p:sp>
        <p:nvSpPr>
          <p:cNvPr id="26" name="badge_290"/>
          <p:cNvSpPr/>
          <p:nvPr/>
        </p:nvSpPr>
        <p:spPr>
          <a:xfrm>
            <a:off x="4709160" y="3557016"/>
            <a:ext cx="868680" cy="274320"/>
          </a:xfrm>
          <a:prstGeom prst="roundRect">
            <a:avLst>
              <a:gd name="adj" fmla="val 50000"/>
            </a:avLst>
          </a:prstGeom>
          <a:solidFill>
            <a:srgbClr val="14B8A6"/>
          </a:solidFill>
          <a:ln w="12700">
            <a:solidFill>
              <a:srgbClr val="14B8A6"/>
            </a:solidFill>
            <a:prstDash val="solid"/>
          </a:ln>
        </p:spPr>
      </p:sp>
      <p:sp>
        <p:nvSpPr>
          <p:cNvPr id="27" name="text_291"/>
          <p:cNvSpPr txBox="1"/>
          <p:nvPr/>
        </p:nvSpPr>
        <p:spPr>
          <a:xfrm>
            <a:off x="4709160" y="3557016"/>
            <a:ext cx="868680" cy="274320"/>
          </a:xfrm>
          <a:prstGeom prst="rect">
            <a:avLst/>
          </a:prstGeom>
          <a:noFill/>
          <a:ln/>
        </p:spPr>
        <p:txBody>
          <a:bodyPr wrap="square" lIns="0" tIns="0" rIns="0" bIns="0" rtlCol="0" anchor="ctr"/>
          <a:lstStyle/>
          <a:p>
            <a:pPr algn="ctr" indent="0" marL="0">
              <a:buNone/>
            </a:pPr>
            <a:r>
              <a:rPr lang="en-US" sz="1100" b="1" spc="100" kern="0" dirty="0">
                <a:solidFill>
                  <a:srgbClr val="0B1426"/>
                </a:solidFill>
                <a:latin typeface="Calibri" pitchFamily="34" charset="0"/>
                <a:ea typeface="Calibri" pitchFamily="34" charset="-122"/>
                <a:cs typeface="Calibri" pitchFamily="34" charset="-120"/>
              </a:rPr>
              <a:t>PASS</a:t>
            </a:r>
            <a:endParaRPr lang="en-US" sz="1100" dirty="0"/>
          </a:p>
        </p:txBody>
      </p:sp>
      <p:sp>
        <p:nvSpPr>
          <p:cNvPr id="28" name="card_292"/>
          <p:cNvSpPr/>
          <p:nvPr/>
        </p:nvSpPr>
        <p:spPr>
          <a:xfrm>
            <a:off x="5989320" y="1097280"/>
            <a:ext cx="2697480" cy="2880360"/>
          </a:xfrm>
          <a:prstGeom prst="roundRect">
            <a:avLst>
              <a:gd name="adj" fmla="val 2712"/>
            </a:avLst>
          </a:prstGeom>
          <a:solidFill>
            <a:srgbClr val="14B8A6"/>
          </a:solidFill>
          <a:ln w="12700">
            <a:solidFill>
              <a:srgbClr val="14B8A6"/>
            </a:solidFill>
            <a:prstDash val="solid"/>
          </a:ln>
        </p:spPr>
      </p:sp>
      <p:sp>
        <p:nvSpPr>
          <p:cNvPr id="29" name="text_293"/>
          <p:cNvSpPr txBox="1"/>
          <p:nvPr/>
        </p:nvSpPr>
        <p:spPr>
          <a:xfrm>
            <a:off x="6172200" y="1097280"/>
            <a:ext cx="2331720" cy="2880360"/>
          </a:xfrm>
          <a:prstGeom prst="rect">
            <a:avLst/>
          </a:prstGeom>
          <a:noFill/>
          <a:ln/>
        </p:spPr>
        <p:txBody>
          <a:bodyPr wrap="square" lIns="0" tIns="0" rIns="0" bIns="0" rtlCol="0" anchor="ctr"/>
          <a:lstStyle/>
          <a:p>
            <a:pPr indent="0" marL="0">
              <a:buNone/>
            </a:pPr>
            <a:r>
              <a:rPr lang="en-US" sz="1700" b="1" dirty="0">
                <a:solidFill>
                  <a:srgbClr val="0B1426"/>
                </a:solidFill>
                <a:latin typeface="Calibri" pitchFamily="34" charset="0"/>
                <a:ea typeface="Calibri" pitchFamily="34" charset="-122"/>
                <a:cs typeface="Calibri" pitchFamily="34" charset="-120"/>
              </a:rPr>
              <a:t>Fast (about 2 ms), explainable, no LLM, our own parsers and rules, a proven interception point, and honest about its limits.</a:t>
            </a:r>
            <a:endParaRPr lang="en-US" sz="1700" dirty="0"/>
          </a:p>
        </p:txBody>
      </p:sp>
      <p:sp>
        <p:nvSpPr>
          <p:cNvPr id="30" name="text_294"/>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000" u="sng" dirty="0">
                <a:solidFill>
                  <a:srgbClr val="5EEAD4"/>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github.com/ShreyDudie/CodeGuard_Shrey-Mod</a:t>
            </a:r>
            <a:endParaRPr lang="en-US" sz="1000" dirty="0"/>
          </a:p>
          <a:p>
            <a:pPr indent="0" marL="0">
              <a:buNone/>
            </a:pPr>
            <a:r>
              <a:rPr lang="en-US" sz="1000" dirty="0">
                <a:solidFill>
                  <a:srgbClr val="93A4BD"/>
                </a:solidFill>
                <a:latin typeface="Calibri" pitchFamily="34" charset="0"/>
                <a:ea typeface="Calibri" pitchFamily="34" charset="-122"/>
                <a:cs typeface="Calibri" pitchFamily="34" charset="-120"/>
              </a:rPr>
              <a:t>Built with Claude Code under the team's direction</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Backup: likely questions, short answers</a:t>
            </a:r>
            <a:endParaRPr lang="en-US" sz="2800" dirty="0"/>
          </a:p>
        </p:txBody>
      </p:sp>
      <p:sp>
        <p:nvSpPr>
          <p:cNvPr id="3" name="card_295"/>
          <p:cNvSpPr/>
          <p:nvPr/>
        </p:nvSpPr>
        <p:spPr>
          <a:xfrm>
            <a:off x="457200" y="1097280"/>
            <a:ext cx="2606040" cy="1600200"/>
          </a:xfrm>
          <a:prstGeom prst="roundRect">
            <a:avLst>
              <a:gd name="adj" fmla="val 4571"/>
            </a:avLst>
          </a:prstGeom>
          <a:solidFill>
            <a:srgbClr val="13213A"/>
          </a:solidFill>
          <a:ln w="12700">
            <a:solidFill>
              <a:srgbClr val="13213A"/>
            </a:solidFill>
            <a:prstDash val="solid"/>
          </a:ln>
        </p:spPr>
      </p:sp>
      <p:sp>
        <p:nvSpPr>
          <p:cNvPr id="4" name="text_296"/>
          <p:cNvSpPr txBox="1"/>
          <p:nvPr/>
        </p:nvSpPr>
        <p:spPr>
          <a:xfrm>
            <a:off x="640080" y="123444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Is it a keyword list?</a:t>
            </a:r>
            <a:endParaRPr lang="en-US" sz="1400" dirty="0"/>
          </a:p>
        </p:txBody>
      </p:sp>
      <p:sp>
        <p:nvSpPr>
          <p:cNvPr id="5" name="text_297"/>
          <p:cNvSpPr txBox="1"/>
          <p:nvPr/>
        </p:nvSpPr>
        <p:spPr>
          <a:xfrm>
            <a:off x="640080" y="175564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No. Data-flow labels, decoding and safety proofs. 1,016 rewrites changed 0 verdicts.</a:t>
            </a:r>
            <a:endParaRPr lang="en-US" sz="1300" dirty="0"/>
          </a:p>
        </p:txBody>
      </p:sp>
      <p:sp>
        <p:nvSpPr>
          <p:cNvPr id="6" name="card_298"/>
          <p:cNvSpPr/>
          <p:nvPr/>
        </p:nvSpPr>
        <p:spPr>
          <a:xfrm>
            <a:off x="3268980" y="1097280"/>
            <a:ext cx="2606040" cy="1600200"/>
          </a:xfrm>
          <a:prstGeom prst="roundRect">
            <a:avLst>
              <a:gd name="adj" fmla="val 4571"/>
            </a:avLst>
          </a:prstGeom>
          <a:solidFill>
            <a:srgbClr val="13213A"/>
          </a:solidFill>
          <a:ln w="12700">
            <a:solidFill>
              <a:srgbClr val="13213A"/>
            </a:solidFill>
            <a:prstDash val="solid"/>
          </a:ln>
        </p:spPr>
      </p:sp>
      <p:sp>
        <p:nvSpPr>
          <p:cNvPr id="7" name="text_299"/>
          <p:cNvSpPr txBox="1"/>
          <p:nvPr/>
        </p:nvSpPr>
        <p:spPr>
          <a:xfrm>
            <a:off x="3451860" y="123444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Did you train on the dev sample?</a:t>
            </a:r>
            <a:endParaRPr lang="en-US" sz="1400" dirty="0"/>
          </a:p>
        </p:txBody>
      </p:sp>
      <p:sp>
        <p:nvSpPr>
          <p:cNvPr id="8" name="text_300"/>
          <p:cNvSpPr txBox="1"/>
          <p:nvPr/>
        </p:nvSpPr>
        <p:spPr>
          <a:xfrm>
            <a:off x="3451860" y="175564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No. It was used only as a test set.</a:t>
            </a:r>
            <a:endParaRPr lang="en-US" sz="1300" dirty="0"/>
          </a:p>
        </p:txBody>
      </p:sp>
      <p:sp>
        <p:nvSpPr>
          <p:cNvPr id="9" name="card_301"/>
          <p:cNvSpPr/>
          <p:nvPr/>
        </p:nvSpPr>
        <p:spPr>
          <a:xfrm>
            <a:off x="6080760" y="1097280"/>
            <a:ext cx="2606040" cy="1600200"/>
          </a:xfrm>
          <a:prstGeom prst="roundRect">
            <a:avLst>
              <a:gd name="adj" fmla="val 4571"/>
            </a:avLst>
          </a:prstGeom>
          <a:solidFill>
            <a:srgbClr val="13213A"/>
          </a:solidFill>
          <a:ln w="12700">
            <a:solidFill>
              <a:srgbClr val="13213A"/>
            </a:solidFill>
            <a:prstDash val="solid"/>
          </a:ln>
        </p:spPr>
      </p:sp>
      <p:sp>
        <p:nvSpPr>
          <p:cNvPr id="10" name="text_302"/>
          <p:cNvSpPr txBox="1"/>
          <p:nvPr/>
        </p:nvSpPr>
        <p:spPr>
          <a:xfrm>
            <a:off x="6263640" y="123444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Why no bigger model?</a:t>
            </a:r>
            <a:endParaRPr lang="en-US" sz="1400" dirty="0"/>
          </a:p>
        </p:txBody>
      </p:sp>
      <p:sp>
        <p:nvSpPr>
          <p:cNvPr id="11" name="text_303"/>
          <p:cNvSpPr txBox="1"/>
          <p:nvPr/>
        </p:nvSpPr>
        <p:spPr>
          <a:xfrm>
            <a:off x="6263640" y="175564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We measured it: it did not generalise from 103 distinct snippets.</a:t>
            </a:r>
            <a:endParaRPr lang="en-US" sz="1300" dirty="0"/>
          </a:p>
        </p:txBody>
      </p:sp>
      <p:sp>
        <p:nvSpPr>
          <p:cNvPr id="12" name="card_304"/>
          <p:cNvSpPr/>
          <p:nvPr/>
        </p:nvSpPr>
        <p:spPr>
          <a:xfrm>
            <a:off x="457200" y="2834640"/>
            <a:ext cx="2606040" cy="1600200"/>
          </a:xfrm>
          <a:prstGeom prst="roundRect">
            <a:avLst>
              <a:gd name="adj" fmla="val 4571"/>
            </a:avLst>
          </a:prstGeom>
          <a:solidFill>
            <a:srgbClr val="13213A"/>
          </a:solidFill>
          <a:ln w="12700">
            <a:solidFill>
              <a:srgbClr val="13213A"/>
            </a:solidFill>
            <a:prstDash val="solid"/>
          </a:ln>
        </p:spPr>
      </p:sp>
      <p:sp>
        <p:nvSpPr>
          <p:cNvPr id="13" name="text_305"/>
          <p:cNvSpPr txBox="1"/>
          <p:nvPr/>
        </p:nvSpPr>
        <p:spPr>
          <a:xfrm>
            <a:off x="640080" y="297180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What is the false-positive rate?</a:t>
            </a:r>
            <a:endParaRPr lang="en-US" sz="1400" dirty="0"/>
          </a:p>
        </p:txBody>
      </p:sp>
      <p:sp>
        <p:nvSpPr>
          <p:cNvPr id="14" name="text_306"/>
          <p:cNvSpPr txBox="1"/>
          <p:nvPr/>
        </p:nvSpPr>
        <p:spPr>
          <a:xfrm>
            <a:off x="640080" y="349300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0 on dev · ~8% on real library code · ~10% on fresh benign look-alikes.</a:t>
            </a:r>
            <a:endParaRPr lang="en-US" sz="1300" dirty="0"/>
          </a:p>
        </p:txBody>
      </p:sp>
      <p:sp>
        <p:nvSpPr>
          <p:cNvPr id="15" name="card_307"/>
          <p:cNvSpPr/>
          <p:nvPr/>
        </p:nvSpPr>
        <p:spPr>
          <a:xfrm>
            <a:off x="3268980" y="2834640"/>
            <a:ext cx="2606040" cy="1600200"/>
          </a:xfrm>
          <a:prstGeom prst="roundRect">
            <a:avLst>
              <a:gd name="adj" fmla="val 4571"/>
            </a:avLst>
          </a:prstGeom>
          <a:solidFill>
            <a:srgbClr val="13213A"/>
          </a:solidFill>
          <a:ln w="12700">
            <a:solidFill>
              <a:srgbClr val="13213A"/>
            </a:solidFill>
            <a:prstDash val="solid"/>
          </a:ln>
        </p:spPr>
      </p:sp>
      <p:sp>
        <p:nvSpPr>
          <p:cNvPr id="16" name="text_308"/>
          <p:cNvSpPr txBox="1"/>
          <p:nvPr/>
        </p:nvSpPr>
        <p:spPr>
          <a:xfrm>
            <a:off x="3451860" y="297180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Can a long file hide code?</a:t>
            </a:r>
            <a:endParaRPr lang="en-US" sz="1400" dirty="0"/>
          </a:p>
        </p:txBody>
      </p:sp>
      <p:sp>
        <p:nvSpPr>
          <p:cNvPr id="17" name="text_309"/>
          <p:cNvSpPr txBox="1"/>
          <p:nvPr/>
        </p:nvSpPr>
        <p:spPr>
          <a:xfrm>
            <a:off x="3451860" y="349300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Head + tail scan: first 150,000 and last 50,000 characters.</a:t>
            </a:r>
            <a:endParaRPr lang="en-US" sz="1300" dirty="0"/>
          </a:p>
        </p:txBody>
      </p:sp>
      <p:sp>
        <p:nvSpPr>
          <p:cNvPr id="18" name="card_310"/>
          <p:cNvSpPr/>
          <p:nvPr/>
        </p:nvSpPr>
        <p:spPr>
          <a:xfrm>
            <a:off x="6080760" y="2834640"/>
            <a:ext cx="2606040" cy="1600200"/>
          </a:xfrm>
          <a:prstGeom prst="roundRect">
            <a:avLst>
              <a:gd name="adj" fmla="val 4571"/>
            </a:avLst>
          </a:prstGeom>
          <a:solidFill>
            <a:srgbClr val="13213A"/>
          </a:solidFill>
          <a:ln w="12700">
            <a:solidFill>
              <a:srgbClr val="13213A"/>
            </a:solidFill>
            <a:prstDash val="solid"/>
          </a:ln>
        </p:spPr>
      </p:sp>
      <p:sp>
        <p:nvSpPr>
          <p:cNvPr id="19" name="text_311"/>
          <p:cNvSpPr txBox="1"/>
          <p:nvPr/>
        </p:nvSpPr>
        <p:spPr>
          <a:xfrm>
            <a:off x="6263640" y="2971800"/>
            <a:ext cx="2240280" cy="502920"/>
          </a:xfrm>
          <a:prstGeom prst="rect">
            <a:avLst/>
          </a:prstGeom>
          <a:noFill/>
          <a:ln/>
        </p:spPr>
        <p:txBody>
          <a:bodyPr wrap="square" lIns="0" tIns="0" rIns="0" bIns="0" rtlCol="0" anchor="t"/>
          <a:lstStyle/>
          <a:p>
            <a:pPr indent="0" marL="0">
              <a:buNone/>
            </a:pPr>
            <a:r>
              <a:rPr lang="en-US" sz="1400" b="1" dirty="0">
                <a:solidFill>
                  <a:srgbClr val="5EEAD4"/>
                </a:solidFill>
                <a:latin typeface="Calibri" pitchFamily="34" charset="0"/>
                <a:ea typeface="Calibri" pitchFamily="34" charset="-122"/>
                <a:cs typeface="Calibri" pitchFamily="34" charset="-120"/>
              </a:rPr>
              <a:t>Does it execute anything?</a:t>
            </a:r>
            <a:endParaRPr lang="en-US" sz="1400" dirty="0"/>
          </a:p>
        </p:txBody>
      </p:sp>
      <p:sp>
        <p:nvSpPr>
          <p:cNvPr id="20" name="text_312"/>
          <p:cNvSpPr txBox="1"/>
          <p:nvPr/>
        </p:nvSpPr>
        <p:spPr>
          <a:xfrm>
            <a:off x="6263640" y="3493008"/>
            <a:ext cx="2240280" cy="868680"/>
          </a:xfrm>
          <a:prstGeom prst="rect">
            <a:avLst/>
          </a:prstGeom>
          <a:noFill/>
          <a:ln/>
        </p:spPr>
        <p:txBody>
          <a:bodyPr wrap="square" lIns="0" tIns="0" rIns="0" bIns="0" rtlCol="0" anchor="t"/>
          <a:lstStyle/>
          <a:p>
            <a:pPr indent="0" marL="0">
              <a:buNone/>
            </a:pPr>
            <a:r>
              <a:rPr lang="en-US" sz="1300" dirty="0">
                <a:solidFill>
                  <a:srgbClr val="E8EEF6"/>
                </a:solidFill>
                <a:latin typeface="Calibri" pitchFamily="34" charset="0"/>
                <a:ea typeface="Calibri" pitchFamily="34" charset="-122"/>
                <a:cs typeface="Calibri" pitchFamily="34" charset="-120"/>
              </a:rPr>
              <a:t>Never. Only the harmless demo pair runs, and only in demo/.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E8EEF6"/>
                </a:solidFill>
                <a:latin typeface="Calibri" pitchFamily="34" charset="0"/>
                <a:ea typeface="Calibri" pitchFamily="34" charset="-122"/>
                <a:cs typeface="Calibri" pitchFamily="34" charset="-120"/>
              </a:rPr>
              <a:t>Backup: components and licences</a:t>
            </a:r>
            <a:endParaRPr lang="en-US" sz="2800" dirty="0"/>
          </a:p>
        </p:txBody>
      </p:sp>
      <p:graphicFrame>
        <p:nvGraphicFramePr>
          <p:cNvPr id="17" name="licence_table"/>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914400"/>
        </p:xfrm>
        <a:graphic>
          <a:graphicData uri="http://schemas.openxmlformats.org/drawingml/2006/table">
            <a:tbl>
              <a:tblPr/>
              <a:tblGrid>
                <a:gridCol w="3657600"/>
                <a:gridCol w="1463040"/>
              </a:tblGrid>
              <a:tr h="310896">
                <a:tc>
                  <a:txBody>
                    <a:bodyPr/>
                    <a:lstStyle/>
                    <a:p>
                      <a:pPr indent="0" marL="0">
                        <a:buNone/>
                      </a:pPr>
                      <a:r>
                        <a:rPr lang="en-US" sz="1200" b="1" dirty="0">
                          <a:solidFill>
                            <a:srgbClr val="0B1426"/>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4B8A6"/>
                    </a:solidFill>
                  </a:tcPr>
                </a:tc>
                <a:tc>
                  <a:txBody>
                    <a:bodyPr/>
                    <a:lstStyle/>
                    <a:p>
                      <a:pPr indent="0" marL="0">
                        <a:buNone/>
                      </a:pPr>
                      <a:r>
                        <a:rPr lang="en-US" sz="1200" b="1" dirty="0">
                          <a:solidFill>
                            <a:srgbClr val="0B1426"/>
                          </a:solidFill>
                          <a:latin typeface="Calibri" pitchFamily="34" charset="0"/>
                          <a:ea typeface="Calibri" pitchFamily="34" charset="-122"/>
                          <a:cs typeface="Calibri" pitchFamily="34" charset="-120"/>
                        </a:rPr>
                        <a:t>Licence / source</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4B8A6"/>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Python standard library</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PSF</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NumPy</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BSD-3</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PyYAML</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FastAPI / Starlette</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uvicorn</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BSD-3</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pydantic</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gitleaks credential formats</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MIT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Prompt-Injection-Firewall benchmark</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Apache-2.0</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Top-PyPI download list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hugovk</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13213A"/>
                    </a:solidFill>
                  </a:tcPr>
                </a:tc>
              </a:tr>
              <a:tr h="310896">
                <a:tc>
                  <a:txBody>
                    <a:bodyPr/>
                    <a:lstStyle/>
                    <a:p>
                      <a:pPr indent="0" marL="0">
                        <a:buNone/>
                      </a:pPr>
                      <a:r>
                        <a:rPr lang="en-US" sz="1200" dirty="0">
                          <a:solidFill>
                            <a:srgbClr val="E8EEF6"/>
                          </a:solidFill>
                          <a:latin typeface="Calibri" pitchFamily="34" charset="0"/>
                          <a:ea typeface="Calibri" pitchFamily="34" charset="-122"/>
                          <a:cs typeface="Calibri" pitchFamily="34" charset="-120"/>
                        </a:rPr>
                        <a:t>MiniLM base weights (optional, off by default)</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c>
                  <a:txBody>
                    <a:bodyPr/>
                    <a:lstStyle/>
                    <a:p>
                      <a:pPr indent="0" marL="0">
                        <a:buNone/>
                      </a:pPr>
                      <a:r>
                        <a:rPr lang="en-US" sz="1200" dirty="0">
                          <a:solidFill>
                            <a:srgbClr val="5EEAD4"/>
                          </a:solidFill>
                          <a:latin typeface="Calibri" pitchFamily="34" charset="0"/>
                          <a:ea typeface="Calibri" pitchFamily="34" charset="-122"/>
                          <a:cs typeface="Calibri" pitchFamily="34" charset="-120"/>
                        </a:rPr>
                        <a:t>Apache-2.0</a:t>
                      </a:r>
                      <a:endParaRPr lang="en-US" sz="1200" dirty="0">
                        <a:latin typeface="Calibri" charset="0"/>
                        <a:ea typeface="Calibri" charset="0"/>
                        <a:cs typeface="Calibri" charset="0"/>
                      </a:endParaRPr>
                    </a:p>
                  </a:txBody>
                  <a:tcPr marL="91440" marR="91440" marT="27432" marB="27432" anchor="ctr">
                    <a:lnL w="6350" cap="flat" cmpd="sng" algn="ctr">
                      <a:solidFill>
                        <a:srgbClr val="2A3E60"/>
                      </a:solidFill>
                      <a:prstDash val="solid"/>
                      <a:round/>
                      <a:headEnd type="none" w="med" len="med"/>
                      <a:tailEnd type="none" w="med" len="med"/>
                    </a:lnL>
                    <a:lnR w="6350" cap="flat" cmpd="sng" algn="ctr">
                      <a:solidFill>
                        <a:srgbClr val="2A3E60"/>
                      </a:solidFill>
                      <a:prstDash val="solid"/>
                      <a:round/>
                      <a:headEnd type="none" w="med" len="med"/>
                      <a:tailEnd type="none" w="med" len="med"/>
                    </a:lnR>
                    <a:lnT w="6350" cap="flat" cmpd="sng" algn="ctr">
                      <a:solidFill>
                        <a:srgbClr val="2A3E60"/>
                      </a:solidFill>
                      <a:prstDash val="solid"/>
                      <a:round/>
                      <a:headEnd type="none" w="med" len="med"/>
                      <a:tailEnd type="none" w="med" len="med"/>
                    </a:lnT>
                    <a:lnB w="6350" cap="flat" cmpd="sng" algn="ctr">
                      <a:solidFill>
                        <a:srgbClr val="2A3E60"/>
                      </a:solidFill>
                      <a:prstDash val="solid"/>
                      <a:round/>
                      <a:headEnd type="none" w="med" len="med"/>
                      <a:tailEnd type="none" w="med" len="med"/>
                    </a:lnB>
                    <a:solidFill>
                      <a:srgbClr val="0B1426"/>
                    </a:solidFill>
                  </a:tcPr>
                </a:tc>
              </a:tr>
            </a:tbl>
          </a:graphicData>
        </a:graphic>
      </p:graphicFrame>
      <p:sp>
        <p:nvSpPr>
          <p:cNvPr id="4" name="card_313"/>
          <p:cNvSpPr/>
          <p:nvPr/>
        </p:nvSpPr>
        <p:spPr>
          <a:xfrm>
            <a:off x="5852160" y="1051560"/>
            <a:ext cx="2834640" cy="1463040"/>
          </a:xfrm>
          <a:prstGeom prst="roundRect">
            <a:avLst>
              <a:gd name="adj" fmla="val 5000"/>
            </a:avLst>
          </a:prstGeom>
          <a:solidFill>
            <a:srgbClr val="13213A"/>
          </a:solidFill>
          <a:ln w="15875">
            <a:solidFill>
              <a:srgbClr val="14B8A6"/>
            </a:solidFill>
            <a:prstDash val="solid"/>
          </a:ln>
        </p:spPr>
      </p:sp>
      <p:sp>
        <p:nvSpPr>
          <p:cNvPr id="5" name="iconbg_314"/>
          <p:cNvSpPr/>
          <p:nvPr/>
        </p:nvSpPr>
        <p:spPr>
          <a:xfrm>
            <a:off x="6035040" y="1234440"/>
            <a:ext cx="502920" cy="502920"/>
          </a:xfrm>
          <a:prstGeom prst="ellipse">
            <a:avLst/>
          </a:prstGeom>
          <a:solidFill>
            <a:srgbClr val="14B8A6"/>
          </a:solidFill>
          <a:ln w="12700">
            <a:solidFill>
              <a:srgbClr val="14B8A6"/>
            </a:solidFill>
            <a:prstDash val="solid"/>
          </a:ln>
        </p:spPr>
      </p:sp>
      <p:pic>
        <p:nvPicPr>
          <p:cNvPr id="6" name="icon_315" descr="shield">    </p:cNvPr>
          <p:cNvPicPr>
            <a:picLocks noChangeAspect="1"/>
          </p:cNvPicPr>
          <p:nvPr/>
        </p:nvPicPr>
        <p:blipFill>
          <a:blip r:embed="rId1"/>
          <a:stretch>
            <a:fillRect/>
          </a:stretch>
        </p:blipFill>
        <p:spPr>
          <a:xfrm>
            <a:off x="6160770" y="1360170"/>
            <a:ext cx="251460" cy="251460"/>
          </a:xfrm>
          <a:prstGeom prst="rect">
            <a:avLst/>
          </a:prstGeom>
        </p:spPr>
      </p:pic>
      <p:sp>
        <p:nvSpPr>
          <p:cNvPr id="7" name="text_316"/>
          <p:cNvSpPr txBox="1"/>
          <p:nvPr/>
        </p:nvSpPr>
        <p:spPr>
          <a:xfrm>
            <a:off x="6035040" y="1828800"/>
            <a:ext cx="2560320" cy="54864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No LLM or API at inference</a:t>
            </a:r>
            <a:endParaRPr lang="en-US" sz="1500" dirty="0"/>
          </a:p>
        </p:txBody>
      </p:sp>
      <p:sp>
        <p:nvSpPr>
          <p:cNvPr id="8" name="card_317"/>
          <p:cNvSpPr/>
          <p:nvPr/>
        </p:nvSpPr>
        <p:spPr>
          <a:xfrm>
            <a:off x="5852160" y="2697480"/>
            <a:ext cx="2834640" cy="1188720"/>
          </a:xfrm>
          <a:prstGeom prst="roundRect">
            <a:avLst>
              <a:gd name="adj" fmla="val 6154"/>
            </a:avLst>
          </a:prstGeom>
          <a:solidFill>
            <a:srgbClr val="1B2D4F"/>
          </a:solidFill>
          <a:ln w="12700">
            <a:solidFill>
              <a:srgbClr val="1B2D4F"/>
            </a:solidFill>
            <a:prstDash val="solid"/>
          </a:ln>
        </p:spPr>
      </p:sp>
      <p:sp>
        <p:nvSpPr>
          <p:cNvPr id="9" name="text_318"/>
          <p:cNvSpPr txBox="1"/>
          <p:nvPr/>
        </p:nvSpPr>
        <p:spPr>
          <a:xfrm>
            <a:off x="6035040" y="2697480"/>
            <a:ext cx="2560320" cy="1188720"/>
          </a:xfrm>
          <a:prstGeom prst="rect">
            <a:avLst/>
          </a:prstGeom>
          <a:noFill/>
          <a:ln/>
        </p:spPr>
        <p:txBody>
          <a:bodyPr wrap="square" lIns="0" tIns="0" rIns="0" bIns="0" rtlCol="0" anchor="ctr"/>
          <a:lstStyle/>
          <a:p>
            <a:pPr indent="0" marL="0">
              <a:buNone/>
            </a:pPr>
            <a:r>
              <a:rPr lang="en-US" sz="1400" b="1" dirty="0">
                <a:solidFill>
                  <a:srgbClr val="E8EEF6"/>
                </a:solidFill>
                <a:latin typeface="Calibri" pitchFamily="34" charset="0"/>
                <a:ea typeface="Calibri" pitchFamily="34" charset="-122"/>
                <a:cs typeface="Calibri" pitchFamily="34" charset="-120"/>
              </a:rPr>
              <a:t>Ideas drawn from</a:t>
            </a:r>
            <a:endParaRPr lang="en-US" sz="1400" dirty="0"/>
          </a:p>
          <a:p>
            <a:pPr indent="0" marL="0">
              <a:buNone/>
            </a:pPr>
            <a:r>
              <a:rPr lang="en-US" sz="1400" dirty="0">
                <a:solidFill>
                  <a:srgbClr val="93A4BD"/>
                </a:solidFill>
                <a:latin typeface="Calibri" pitchFamily="34" charset="0"/>
                <a:ea typeface="Calibri" pitchFamily="34" charset="-122"/>
                <a:cs typeface="Calibri" pitchFamily="34" charset="-120"/>
              </a:rPr>
              <a:t>Bandit · hexora · detect-secrets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3A4BD"/>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deGuard">
  <a:themeElements>
    <a:clrScheme name="CodeGuard">
      <a:dk1>
        <a:srgbClr val="0B1426"/>
      </a:dk1>
      <a:lt1>
        <a:srgbClr val="FFFFFF"/>
      </a:lt1>
      <a:dk2>
        <a:srgbClr val="13213A"/>
      </a:dk2>
      <a:lt2>
        <a:srgbClr val="E8EEF6"/>
      </a:lt2>
      <a:accent1>
        <a:srgbClr val="14B8A6"/>
      </a:accent1>
      <a:accent2>
        <a:srgbClr val="5EEAD4"/>
      </a:accent2>
      <a:accent3>
        <a:srgbClr val="F0616D"/>
      </a:accent3>
      <a:accent4>
        <a:srgbClr val="F5B547"/>
      </a:accent4>
      <a:accent5>
        <a:srgbClr val="93A4BD"/>
      </a:accent5>
      <a:accent6>
        <a:srgbClr val="3B82F6"/>
      </a:accent6>
      <a:hlink>
        <a:srgbClr val="5EEAD4"/>
      </a:hlink>
      <a:folHlink>
        <a:srgbClr val="14B8A6"/>
      </a:folHlink>
    </a:clrScheme>
    <a:fontScheme name="Code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CodeGuard</dc:title>
  <dc:subject>PptxGenJS Presentation</dc:subject>
  <dc:creator>CodeGuard team</dc:creator>
  <cp:lastModifiedBy>CodeGuard team</cp:lastModifiedBy>
  <cp:revision>1</cp:revision>
  <dcterms:created xsi:type="dcterms:W3CDTF">2026-10-24T03:42:06Z</dcterms:created>
  <dcterms:modified xsi:type="dcterms:W3CDTF">2026-10-24T03:42:06Z</dcterms:modified>
</cp:coreProperties>
</file>